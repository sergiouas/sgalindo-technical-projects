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Alexandria" panose="020B0604020202020204" charset="-78"/>
      <p:regular r:id="rId13"/>
    </p:embeddedFont>
    <p:embeddedFont>
      <p:font typeface="Nobile" panose="020B0604020202020204" charset="0"/>
      <p:regular r:id="rId14"/>
    </p:embeddedFont>
  </p:embeddedFontLst>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4857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92348"/>
            <a:ext cx="7556421" cy="1700927"/>
          </a:xfrm>
          <a:prstGeom prst="rect">
            <a:avLst/>
          </a:prstGeom>
          <a:noFill/>
          <a:ln/>
        </p:spPr>
        <p:txBody>
          <a:bodyPr wrap="square" lIns="0" tIns="0" rIns="0" bIns="0" rtlCol="0" anchor="t"/>
          <a:lstStyle/>
          <a:p>
            <a:pPr marL="0" indent="0">
              <a:lnSpc>
                <a:spcPts val="4450"/>
              </a:lnSpc>
              <a:buNone/>
            </a:pPr>
            <a:r>
              <a:rPr lang="en-US" sz="3550" dirty="0">
                <a:solidFill>
                  <a:srgbClr val="1B1B27"/>
                </a:solidFill>
                <a:latin typeface="Alexandria" pitchFamily="34" charset="0"/>
                <a:ea typeface="Alexandria" pitchFamily="34" charset="-122"/>
                <a:cs typeface="Alexandria" pitchFamily="34" charset="-120"/>
              </a:rPr>
              <a:t>Grupo PINSA Mazatlán: Impulsando la Sostenibilidad en la Industria Atunera</a:t>
            </a:r>
            <a:endParaRPr lang="en-US" sz="3550" dirty="0"/>
          </a:p>
        </p:txBody>
      </p:sp>
      <p:sp>
        <p:nvSpPr>
          <p:cNvPr id="4" name="Text 1"/>
          <p:cNvSpPr/>
          <p:nvPr/>
        </p:nvSpPr>
        <p:spPr>
          <a:xfrm>
            <a:off x="6280190" y="4548426"/>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Este proyecto busca integrar prácticas sustentables en la industria atunera de PINSA, utilizando tecnología para reducir el impacto ambiental.</a:t>
            </a:r>
            <a:endParaRPr lang="en-US" sz="1750" dirty="0"/>
          </a:p>
        </p:txBody>
      </p:sp>
      <p:sp>
        <p:nvSpPr>
          <p:cNvPr id="5" name="Rectángulo 4">
            <a:extLst>
              <a:ext uri="{FF2B5EF4-FFF2-40B4-BE49-F238E27FC236}">
                <a16:creationId xmlns:a16="http://schemas.microsoft.com/office/drawing/2014/main" id="{9EA68CC0-0B10-F19E-7898-4D0BE314498C}"/>
              </a:ext>
            </a:extLst>
          </p:cNvPr>
          <p:cNvSpPr/>
          <p:nvPr/>
        </p:nvSpPr>
        <p:spPr>
          <a:xfrm>
            <a:off x="12715875" y="7391400"/>
            <a:ext cx="1914525" cy="83820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25485"/>
            <a:ext cx="5670590"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Alexandria" pitchFamily="34" charset="0"/>
                <a:ea typeface="Alexandria" pitchFamily="34" charset="-122"/>
                <a:cs typeface="Alexandria" pitchFamily="34" charset="-120"/>
              </a:rPr>
              <a:t>¿Quiénes somos?</a:t>
            </a:r>
            <a:endParaRPr lang="en-US" sz="4450" dirty="0"/>
          </a:p>
        </p:txBody>
      </p:sp>
      <p:sp>
        <p:nvSpPr>
          <p:cNvPr id="4" name="Text 1"/>
          <p:cNvSpPr/>
          <p:nvPr/>
        </p:nvSpPr>
        <p:spPr>
          <a:xfrm>
            <a:off x="793790" y="230124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1B1B27"/>
                </a:solidFill>
                <a:latin typeface="Alexandria" pitchFamily="34" charset="0"/>
                <a:ea typeface="Alexandria" pitchFamily="34" charset="-122"/>
                <a:cs typeface="Alexandria" pitchFamily="34" charset="-120"/>
              </a:rPr>
              <a:t>Presencia</a:t>
            </a:r>
            <a:endParaRPr lang="en-US" sz="2200" dirty="0"/>
          </a:p>
        </p:txBody>
      </p:sp>
      <p:sp>
        <p:nvSpPr>
          <p:cNvPr id="5" name="Text 2"/>
          <p:cNvSpPr/>
          <p:nvPr/>
        </p:nvSpPr>
        <p:spPr>
          <a:xfrm>
            <a:off x="793790" y="2882384"/>
            <a:ext cx="3502223" cy="1814513"/>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PINSA Mazatlán, con más de 30 años en el mercado nacional e internacional, distribuye atún y sardina en conserva y productos congelados.</a:t>
            </a:r>
            <a:endParaRPr lang="en-US" sz="1750" dirty="0"/>
          </a:p>
        </p:txBody>
      </p:sp>
      <p:sp>
        <p:nvSpPr>
          <p:cNvPr id="6" name="Text 3"/>
          <p:cNvSpPr/>
          <p:nvPr/>
        </p:nvSpPr>
        <p:spPr>
          <a:xfrm>
            <a:off x="4857036" y="230124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1B1B27"/>
                </a:solidFill>
                <a:latin typeface="Alexandria" pitchFamily="34" charset="0"/>
                <a:ea typeface="Alexandria" pitchFamily="34" charset="-122"/>
                <a:cs typeface="Alexandria" pitchFamily="34" charset="-120"/>
              </a:rPr>
              <a:t>Misión</a:t>
            </a:r>
            <a:endParaRPr lang="en-US" sz="2200" dirty="0"/>
          </a:p>
        </p:txBody>
      </p:sp>
      <p:sp>
        <p:nvSpPr>
          <p:cNvPr id="7" name="Text 4"/>
          <p:cNvSpPr/>
          <p:nvPr/>
        </p:nvSpPr>
        <p:spPr>
          <a:xfrm>
            <a:off x="4857036" y="2882384"/>
            <a:ext cx="3500676" cy="1814513"/>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Producir y comercializar con pasión y liderazgo, alimentos del mar innovadores y de alta calidad, que enriquezcan la alimentación de la población.</a:t>
            </a:r>
            <a:endParaRPr lang="en-US" sz="1750" dirty="0"/>
          </a:p>
        </p:txBody>
      </p:sp>
      <p:sp>
        <p:nvSpPr>
          <p:cNvPr id="8" name="Shape 5"/>
          <p:cNvSpPr/>
          <p:nvPr/>
        </p:nvSpPr>
        <p:spPr>
          <a:xfrm>
            <a:off x="793790" y="5156121"/>
            <a:ext cx="7556421" cy="2047994"/>
          </a:xfrm>
          <a:prstGeom prst="roundRect">
            <a:avLst>
              <a:gd name="adj" fmla="val 4652"/>
            </a:avLst>
          </a:prstGeom>
          <a:solidFill>
            <a:srgbClr val="F9F9FF"/>
          </a:solidFill>
          <a:ln w="7620">
            <a:solidFill>
              <a:srgbClr val="DFDFE5"/>
            </a:solidFill>
            <a:prstDash val="solid"/>
          </a:ln>
        </p:spPr>
        <p:txBody>
          <a:bodyPr/>
          <a:lstStyle/>
          <a:p>
            <a:endParaRPr lang="es-MX"/>
          </a:p>
        </p:txBody>
      </p:sp>
      <p:sp>
        <p:nvSpPr>
          <p:cNvPr id="9" name="Text 6"/>
          <p:cNvSpPr/>
          <p:nvPr/>
        </p:nvSpPr>
        <p:spPr>
          <a:xfrm>
            <a:off x="1028224" y="539055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000000"/>
                </a:solidFill>
                <a:latin typeface="Alexandria" pitchFamily="34" charset="0"/>
                <a:ea typeface="Alexandria" pitchFamily="34" charset="-122"/>
                <a:cs typeface="Alexandria" pitchFamily="34" charset="-120"/>
              </a:rPr>
              <a:t>Visión</a:t>
            </a:r>
            <a:endParaRPr lang="en-US" sz="2200" dirty="0"/>
          </a:p>
        </p:txBody>
      </p:sp>
      <p:sp>
        <p:nvSpPr>
          <p:cNvPr id="10" name="Text 7"/>
          <p:cNvSpPr/>
          <p:nvPr/>
        </p:nvSpPr>
        <p:spPr>
          <a:xfrm>
            <a:off x="1028224" y="5880973"/>
            <a:ext cx="7087553" cy="1088708"/>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Nobile" pitchFamily="34" charset="0"/>
                <a:ea typeface="Nobile" pitchFamily="34" charset="-122"/>
                <a:cs typeface="Nobile" pitchFamily="34" charset="-120"/>
              </a:rPr>
              <a:t>Ser líderes globales en productos del mar, consolidándonos como una empresa altamente rentable, respaldada por el compromiso y confianza de su gente.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651159"/>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1B1B27"/>
                </a:solidFill>
                <a:latin typeface="Alexandria" pitchFamily="34" charset="0"/>
                <a:ea typeface="Alexandria" pitchFamily="34" charset="-122"/>
                <a:cs typeface="Alexandria" pitchFamily="34" charset="-120"/>
              </a:rPr>
              <a:t>Problemática: Impacto ambiental</a:t>
            </a:r>
            <a:endParaRPr lang="en-US" sz="4450" dirty="0"/>
          </a:p>
        </p:txBody>
      </p:sp>
      <p:sp>
        <p:nvSpPr>
          <p:cNvPr id="4" name="Shape 1"/>
          <p:cNvSpPr/>
          <p:nvPr/>
        </p:nvSpPr>
        <p:spPr>
          <a:xfrm>
            <a:off x="6280190" y="3664029"/>
            <a:ext cx="396835" cy="396835"/>
          </a:xfrm>
          <a:prstGeom prst="roundRect">
            <a:avLst>
              <a:gd name="adj" fmla="val 24007"/>
            </a:avLst>
          </a:prstGeom>
          <a:solidFill>
            <a:srgbClr val="D2DDF9"/>
          </a:solidFill>
          <a:ln w="7620">
            <a:solidFill>
              <a:srgbClr val="B8C3DF"/>
            </a:solidFill>
            <a:prstDash val="solid"/>
          </a:ln>
        </p:spPr>
        <p:txBody>
          <a:bodyPr/>
          <a:lstStyle/>
          <a:p>
            <a:endParaRPr lang="es-MX"/>
          </a:p>
        </p:txBody>
      </p:sp>
      <p:sp>
        <p:nvSpPr>
          <p:cNvPr id="5" name="Text 2"/>
          <p:cNvSpPr/>
          <p:nvPr/>
        </p:nvSpPr>
        <p:spPr>
          <a:xfrm>
            <a:off x="6903839" y="366402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04155"/>
                </a:solidFill>
                <a:latin typeface="Alexandria" pitchFamily="34" charset="0"/>
                <a:ea typeface="Alexandria" pitchFamily="34" charset="-122"/>
                <a:cs typeface="Alexandria" pitchFamily="34" charset="-120"/>
              </a:rPr>
              <a:t>Desafío</a:t>
            </a:r>
            <a:endParaRPr lang="en-US" sz="2200" dirty="0"/>
          </a:p>
        </p:txBody>
      </p:sp>
      <p:sp>
        <p:nvSpPr>
          <p:cNvPr id="6" name="Text 3"/>
          <p:cNvSpPr/>
          <p:nvPr/>
        </p:nvSpPr>
        <p:spPr>
          <a:xfrm>
            <a:off x="6903839" y="4154448"/>
            <a:ext cx="3041213" cy="1088708"/>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Implementar una infraestructura informática eficiente y sostenible.</a:t>
            </a:r>
            <a:endParaRPr lang="en-US" sz="1750" dirty="0"/>
          </a:p>
        </p:txBody>
      </p:sp>
      <p:sp>
        <p:nvSpPr>
          <p:cNvPr id="7" name="Shape 4"/>
          <p:cNvSpPr/>
          <p:nvPr/>
        </p:nvSpPr>
        <p:spPr>
          <a:xfrm>
            <a:off x="10171867" y="3664029"/>
            <a:ext cx="396835" cy="396835"/>
          </a:xfrm>
          <a:prstGeom prst="roundRect">
            <a:avLst>
              <a:gd name="adj" fmla="val 24007"/>
            </a:avLst>
          </a:prstGeom>
          <a:solidFill>
            <a:srgbClr val="D2DDF9"/>
          </a:solidFill>
          <a:ln w="7620">
            <a:solidFill>
              <a:srgbClr val="B8C3DF"/>
            </a:solidFill>
            <a:prstDash val="solid"/>
          </a:ln>
        </p:spPr>
        <p:txBody>
          <a:bodyPr/>
          <a:lstStyle/>
          <a:p>
            <a:endParaRPr lang="es-MX"/>
          </a:p>
        </p:txBody>
      </p:sp>
      <p:sp>
        <p:nvSpPr>
          <p:cNvPr id="8" name="Text 5"/>
          <p:cNvSpPr/>
          <p:nvPr/>
        </p:nvSpPr>
        <p:spPr>
          <a:xfrm>
            <a:off x="10795516" y="366402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04155"/>
                </a:solidFill>
                <a:latin typeface="Alexandria" pitchFamily="34" charset="0"/>
                <a:ea typeface="Alexandria" pitchFamily="34" charset="-122"/>
                <a:cs typeface="Alexandria" pitchFamily="34" charset="-120"/>
              </a:rPr>
              <a:t>Objetivo</a:t>
            </a:r>
            <a:endParaRPr lang="en-US" sz="2200" dirty="0"/>
          </a:p>
        </p:txBody>
      </p:sp>
      <p:sp>
        <p:nvSpPr>
          <p:cNvPr id="9" name="Text 6"/>
          <p:cNvSpPr/>
          <p:nvPr/>
        </p:nvSpPr>
        <p:spPr>
          <a:xfrm>
            <a:off x="10795516" y="4154448"/>
            <a:ext cx="3041213" cy="1088708"/>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Reducir el consumo de energía y recursos naturales.</a:t>
            </a:r>
            <a:endParaRPr lang="en-US" sz="1750" dirty="0"/>
          </a:p>
        </p:txBody>
      </p:sp>
      <p:sp>
        <p:nvSpPr>
          <p:cNvPr id="10" name="Shape 7"/>
          <p:cNvSpPr/>
          <p:nvPr/>
        </p:nvSpPr>
        <p:spPr>
          <a:xfrm>
            <a:off x="6280190" y="5725120"/>
            <a:ext cx="396835" cy="396835"/>
          </a:xfrm>
          <a:prstGeom prst="roundRect">
            <a:avLst>
              <a:gd name="adj" fmla="val 24007"/>
            </a:avLst>
          </a:prstGeom>
          <a:solidFill>
            <a:srgbClr val="D2DDF9"/>
          </a:solidFill>
          <a:ln w="7620">
            <a:solidFill>
              <a:srgbClr val="B8C3DF"/>
            </a:solidFill>
            <a:prstDash val="solid"/>
          </a:ln>
        </p:spPr>
        <p:txBody>
          <a:bodyPr/>
          <a:lstStyle/>
          <a:p>
            <a:endParaRPr lang="es-MX"/>
          </a:p>
        </p:txBody>
      </p:sp>
      <p:sp>
        <p:nvSpPr>
          <p:cNvPr id="11" name="Text 8"/>
          <p:cNvSpPr/>
          <p:nvPr/>
        </p:nvSpPr>
        <p:spPr>
          <a:xfrm>
            <a:off x="6903839" y="572512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04155"/>
                </a:solidFill>
                <a:latin typeface="Alexandria" pitchFamily="34" charset="0"/>
                <a:ea typeface="Alexandria" pitchFamily="34" charset="-122"/>
                <a:cs typeface="Alexandria" pitchFamily="34" charset="-120"/>
              </a:rPr>
              <a:t>Prioridad</a:t>
            </a:r>
            <a:endParaRPr lang="en-US" sz="2200" dirty="0"/>
          </a:p>
        </p:txBody>
      </p:sp>
      <p:sp>
        <p:nvSpPr>
          <p:cNvPr id="12" name="Text 9"/>
          <p:cNvSpPr/>
          <p:nvPr/>
        </p:nvSpPr>
        <p:spPr>
          <a:xfrm>
            <a:off x="6903839" y="6215539"/>
            <a:ext cx="6932771" cy="362903"/>
          </a:xfrm>
          <a:prstGeom prst="rect">
            <a:avLst/>
          </a:prstGeom>
          <a:noFill/>
          <a:ln/>
        </p:spPr>
        <p:txBody>
          <a:bodyPr wrap="non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Promover la conciencia ambiental y la responsabilidad social.</a:t>
            </a:r>
            <a:endParaRPr lang="en-US" sz="1750" dirty="0"/>
          </a:p>
        </p:txBody>
      </p:sp>
      <p:sp>
        <p:nvSpPr>
          <p:cNvPr id="13" name="Rectángulo 12">
            <a:extLst>
              <a:ext uri="{FF2B5EF4-FFF2-40B4-BE49-F238E27FC236}">
                <a16:creationId xmlns:a16="http://schemas.microsoft.com/office/drawing/2014/main" id="{B998C086-1A85-C232-A830-3A59CDF1E16A}"/>
              </a:ext>
            </a:extLst>
          </p:cNvPr>
          <p:cNvSpPr/>
          <p:nvPr/>
        </p:nvSpPr>
        <p:spPr>
          <a:xfrm>
            <a:off x="12715875" y="7391400"/>
            <a:ext cx="1914525" cy="83820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0565" y="883444"/>
            <a:ext cx="7722870" cy="1268730"/>
          </a:xfrm>
          <a:prstGeom prst="rect">
            <a:avLst/>
          </a:prstGeom>
          <a:noFill/>
          <a:ln/>
        </p:spPr>
        <p:txBody>
          <a:bodyPr wrap="square" lIns="0" tIns="0" rIns="0" bIns="0" rtlCol="0" anchor="t"/>
          <a:lstStyle/>
          <a:p>
            <a:pPr marL="0" indent="0">
              <a:lnSpc>
                <a:spcPts val="4950"/>
              </a:lnSpc>
              <a:buNone/>
            </a:pPr>
            <a:r>
              <a:rPr lang="en-US" sz="3950" dirty="0">
                <a:solidFill>
                  <a:srgbClr val="1B1B27"/>
                </a:solidFill>
                <a:latin typeface="Alexandria" pitchFamily="34" charset="0"/>
                <a:ea typeface="Alexandria" pitchFamily="34" charset="-122"/>
                <a:cs typeface="Alexandria" pitchFamily="34" charset="-120"/>
              </a:rPr>
              <a:t>Solución: Hacia la Sustentabilidad</a:t>
            </a:r>
            <a:endParaRPr lang="en-US" sz="3950" dirty="0"/>
          </a:p>
        </p:txBody>
      </p:sp>
      <p:sp>
        <p:nvSpPr>
          <p:cNvPr id="4" name="Shape 1"/>
          <p:cNvSpPr/>
          <p:nvPr/>
        </p:nvSpPr>
        <p:spPr>
          <a:xfrm>
            <a:off x="1003578" y="2456617"/>
            <a:ext cx="22860" cy="4889421"/>
          </a:xfrm>
          <a:prstGeom prst="roundRect">
            <a:avLst>
              <a:gd name="adj" fmla="val 373005"/>
            </a:avLst>
          </a:prstGeom>
          <a:solidFill>
            <a:srgbClr val="B8C3DF"/>
          </a:solidFill>
          <a:ln/>
        </p:spPr>
        <p:txBody>
          <a:bodyPr/>
          <a:lstStyle/>
          <a:p>
            <a:endParaRPr lang="es-MX"/>
          </a:p>
        </p:txBody>
      </p:sp>
      <p:sp>
        <p:nvSpPr>
          <p:cNvPr id="5" name="Shape 2"/>
          <p:cNvSpPr/>
          <p:nvPr/>
        </p:nvSpPr>
        <p:spPr>
          <a:xfrm>
            <a:off x="1220510" y="2901910"/>
            <a:ext cx="710565" cy="22860"/>
          </a:xfrm>
          <a:prstGeom prst="roundRect">
            <a:avLst>
              <a:gd name="adj" fmla="val 373005"/>
            </a:avLst>
          </a:prstGeom>
          <a:solidFill>
            <a:srgbClr val="B8C3DF"/>
          </a:solidFill>
          <a:ln/>
        </p:spPr>
        <p:txBody>
          <a:bodyPr/>
          <a:lstStyle/>
          <a:p>
            <a:endParaRPr lang="es-MX"/>
          </a:p>
        </p:txBody>
      </p:sp>
      <p:sp>
        <p:nvSpPr>
          <p:cNvPr id="6" name="Shape 3"/>
          <p:cNvSpPr/>
          <p:nvPr/>
        </p:nvSpPr>
        <p:spPr>
          <a:xfrm>
            <a:off x="786646" y="2684978"/>
            <a:ext cx="456724" cy="456724"/>
          </a:xfrm>
          <a:prstGeom prst="roundRect">
            <a:avLst>
              <a:gd name="adj" fmla="val 18670"/>
            </a:avLst>
          </a:prstGeom>
          <a:solidFill>
            <a:srgbClr val="D2DDF9"/>
          </a:solidFill>
          <a:ln w="7620">
            <a:solidFill>
              <a:srgbClr val="B8C3DF"/>
            </a:solidFill>
            <a:prstDash val="solid"/>
          </a:ln>
        </p:spPr>
        <p:txBody>
          <a:bodyPr/>
          <a:lstStyle/>
          <a:p>
            <a:endParaRPr lang="es-MX"/>
          </a:p>
        </p:txBody>
      </p:sp>
      <p:sp>
        <p:nvSpPr>
          <p:cNvPr id="7" name="Text 4"/>
          <p:cNvSpPr/>
          <p:nvPr/>
        </p:nvSpPr>
        <p:spPr>
          <a:xfrm>
            <a:off x="957858" y="2761059"/>
            <a:ext cx="114181" cy="304562"/>
          </a:xfrm>
          <a:prstGeom prst="rect">
            <a:avLst/>
          </a:prstGeom>
          <a:noFill/>
          <a:ln/>
        </p:spPr>
        <p:txBody>
          <a:bodyPr wrap="none" lIns="0" tIns="0" rIns="0" bIns="0" rtlCol="0" anchor="t"/>
          <a:lstStyle/>
          <a:p>
            <a:pPr marL="0" indent="0" algn="ctr">
              <a:lnSpc>
                <a:spcPts val="2350"/>
              </a:lnSpc>
              <a:buNone/>
            </a:pPr>
            <a:r>
              <a:rPr lang="en-US" sz="2350" dirty="0">
                <a:solidFill>
                  <a:srgbClr val="404155"/>
                </a:solidFill>
                <a:latin typeface="Alexandria" pitchFamily="34" charset="0"/>
                <a:ea typeface="Alexandria" pitchFamily="34" charset="-122"/>
                <a:cs typeface="Alexandria" pitchFamily="34" charset="-120"/>
              </a:rPr>
              <a:t>1</a:t>
            </a:r>
            <a:endParaRPr lang="en-US" sz="2350" dirty="0"/>
          </a:p>
        </p:txBody>
      </p:sp>
      <p:sp>
        <p:nvSpPr>
          <p:cNvPr id="8" name="Text 5"/>
          <p:cNvSpPr/>
          <p:nvPr/>
        </p:nvSpPr>
        <p:spPr>
          <a:xfrm>
            <a:off x="2131576" y="2659618"/>
            <a:ext cx="2537698" cy="317063"/>
          </a:xfrm>
          <a:prstGeom prst="rect">
            <a:avLst/>
          </a:prstGeom>
          <a:noFill/>
          <a:ln/>
        </p:spPr>
        <p:txBody>
          <a:bodyPr wrap="none" lIns="0" tIns="0" rIns="0" bIns="0" rtlCol="0" anchor="t"/>
          <a:lstStyle/>
          <a:p>
            <a:pPr marL="0" indent="0" algn="l">
              <a:lnSpc>
                <a:spcPts val="2450"/>
              </a:lnSpc>
              <a:buNone/>
            </a:pPr>
            <a:r>
              <a:rPr lang="en-US" sz="1950" dirty="0">
                <a:solidFill>
                  <a:srgbClr val="404155"/>
                </a:solidFill>
                <a:latin typeface="Alexandria" pitchFamily="34" charset="0"/>
                <a:ea typeface="Alexandria" pitchFamily="34" charset="-122"/>
                <a:cs typeface="Alexandria" pitchFamily="34" charset="-120"/>
              </a:rPr>
              <a:t>Eficiencia</a:t>
            </a:r>
            <a:endParaRPr lang="en-US" sz="1950" dirty="0"/>
          </a:p>
        </p:txBody>
      </p:sp>
      <p:sp>
        <p:nvSpPr>
          <p:cNvPr id="9" name="Text 6"/>
          <p:cNvSpPr/>
          <p:nvPr/>
        </p:nvSpPr>
        <p:spPr>
          <a:xfrm>
            <a:off x="2131576" y="3098483"/>
            <a:ext cx="6301859" cy="649605"/>
          </a:xfrm>
          <a:prstGeom prst="rect">
            <a:avLst/>
          </a:prstGeom>
          <a:noFill/>
          <a:ln/>
        </p:spPr>
        <p:txBody>
          <a:bodyPr wrap="square" lIns="0" tIns="0" rIns="0" bIns="0" rtlCol="0" anchor="t"/>
          <a:lstStyle/>
          <a:p>
            <a:pPr marL="0" indent="0" algn="l">
              <a:lnSpc>
                <a:spcPts val="2550"/>
              </a:lnSpc>
              <a:buNone/>
            </a:pPr>
            <a:r>
              <a:rPr lang="en-US" sz="1550" dirty="0">
                <a:solidFill>
                  <a:srgbClr val="404155"/>
                </a:solidFill>
                <a:latin typeface="Nobile" pitchFamily="34" charset="0"/>
                <a:ea typeface="Nobile" pitchFamily="34" charset="-122"/>
                <a:cs typeface="Nobile" pitchFamily="34" charset="-120"/>
              </a:rPr>
              <a:t>Comparar las eficiencias energéticas de otras empresas para encontrar mejores prácticas.</a:t>
            </a:r>
            <a:endParaRPr lang="en-US" sz="1550" dirty="0"/>
          </a:p>
        </p:txBody>
      </p:sp>
      <p:sp>
        <p:nvSpPr>
          <p:cNvPr id="10" name="Shape 7"/>
          <p:cNvSpPr/>
          <p:nvPr/>
        </p:nvSpPr>
        <p:spPr>
          <a:xfrm>
            <a:off x="1220510" y="4599384"/>
            <a:ext cx="710565" cy="22860"/>
          </a:xfrm>
          <a:prstGeom prst="roundRect">
            <a:avLst>
              <a:gd name="adj" fmla="val 373005"/>
            </a:avLst>
          </a:prstGeom>
          <a:solidFill>
            <a:srgbClr val="B8C3DF"/>
          </a:solidFill>
          <a:ln/>
        </p:spPr>
        <p:txBody>
          <a:bodyPr/>
          <a:lstStyle/>
          <a:p>
            <a:endParaRPr lang="es-MX"/>
          </a:p>
        </p:txBody>
      </p:sp>
      <p:sp>
        <p:nvSpPr>
          <p:cNvPr id="11" name="Shape 8"/>
          <p:cNvSpPr/>
          <p:nvPr/>
        </p:nvSpPr>
        <p:spPr>
          <a:xfrm>
            <a:off x="786646" y="4382453"/>
            <a:ext cx="456724" cy="456724"/>
          </a:xfrm>
          <a:prstGeom prst="roundRect">
            <a:avLst>
              <a:gd name="adj" fmla="val 18670"/>
            </a:avLst>
          </a:prstGeom>
          <a:solidFill>
            <a:srgbClr val="D2DDF9"/>
          </a:solidFill>
          <a:ln w="7620">
            <a:solidFill>
              <a:srgbClr val="B8C3DF"/>
            </a:solidFill>
            <a:prstDash val="solid"/>
          </a:ln>
        </p:spPr>
        <p:txBody>
          <a:bodyPr/>
          <a:lstStyle/>
          <a:p>
            <a:endParaRPr lang="es-MX"/>
          </a:p>
        </p:txBody>
      </p:sp>
      <p:sp>
        <p:nvSpPr>
          <p:cNvPr id="12" name="Text 9"/>
          <p:cNvSpPr/>
          <p:nvPr/>
        </p:nvSpPr>
        <p:spPr>
          <a:xfrm>
            <a:off x="925949" y="4458533"/>
            <a:ext cx="178118" cy="304562"/>
          </a:xfrm>
          <a:prstGeom prst="rect">
            <a:avLst/>
          </a:prstGeom>
          <a:noFill/>
          <a:ln/>
        </p:spPr>
        <p:txBody>
          <a:bodyPr wrap="none" lIns="0" tIns="0" rIns="0" bIns="0" rtlCol="0" anchor="t"/>
          <a:lstStyle/>
          <a:p>
            <a:pPr marL="0" indent="0" algn="ctr">
              <a:lnSpc>
                <a:spcPts val="2350"/>
              </a:lnSpc>
              <a:buNone/>
            </a:pPr>
            <a:r>
              <a:rPr lang="en-US" sz="2350" dirty="0">
                <a:solidFill>
                  <a:srgbClr val="404155"/>
                </a:solidFill>
                <a:latin typeface="Alexandria" pitchFamily="34" charset="0"/>
                <a:ea typeface="Alexandria" pitchFamily="34" charset="-122"/>
                <a:cs typeface="Alexandria" pitchFamily="34" charset="-120"/>
              </a:rPr>
              <a:t>2</a:t>
            </a:r>
            <a:endParaRPr lang="en-US" sz="2350" dirty="0"/>
          </a:p>
        </p:txBody>
      </p:sp>
      <p:sp>
        <p:nvSpPr>
          <p:cNvPr id="13" name="Text 10"/>
          <p:cNvSpPr/>
          <p:nvPr/>
        </p:nvSpPr>
        <p:spPr>
          <a:xfrm>
            <a:off x="2131576" y="4357092"/>
            <a:ext cx="2537698" cy="317063"/>
          </a:xfrm>
          <a:prstGeom prst="rect">
            <a:avLst/>
          </a:prstGeom>
          <a:noFill/>
          <a:ln/>
        </p:spPr>
        <p:txBody>
          <a:bodyPr wrap="none" lIns="0" tIns="0" rIns="0" bIns="0" rtlCol="0" anchor="t"/>
          <a:lstStyle/>
          <a:p>
            <a:pPr marL="0" indent="0" algn="l">
              <a:lnSpc>
                <a:spcPts val="2450"/>
              </a:lnSpc>
              <a:buNone/>
            </a:pPr>
            <a:r>
              <a:rPr lang="en-US" sz="1950" dirty="0">
                <a:solidFill>
                  <a:srgbClr val="404155"/>
                </a:solidFill>
                <a:latin typeface="Alexandria" pitchFamily="34" charset="0"/>
                <a:ea typeface="Alexandria" pitchFamily="34" charset="-122"/>
                <a:cs typeface="Alexandria" pitchFamily="34" charset="-120"/>
              </a:rPr>
              <a:t>Simulación</a:t>
            </a:r>
            <a:endParaRPr lang="en-US" sz="1950" dirty="0"/>
          </a:p>
        </p:txBody>
      </p:sp>
      <p:sp>
        <p:nvSpPr>
          <p:cNvPr id="14" name="Text 11"/>
          <p:cNvSpPr/>
          <p:nvPr/>
        </p:nvSpPr>
        <p:spPr>
          <a:xfrm>
            <a:off x="2131576" y="4795957"/>
            <a:ext cx="6301859" cy="649605"/>
          </a:xfrm>
          <a:prstGeom prst="rect">
            <a:avLst/>
          </a:prstGeom>
          <a:noFill/>
          <a:ln/>
        </p:spPr>
        <p:txBody>
          <a:bodyPr wrap="square" lIns="0" tIns="0" rIns="0" bIns="0" rtlCol="0" anchor="t"/>
          <a:lstStyle/>
          <a:p>
            <a:pPr marL="0" indent="0" algn="l">
              <a:lnSpc>
                <a:spcPts val="2550"/>
              </a:lnSpc>
              <a:buNone/>
            </a:pPr>
            <a:r>
              <a:rPr lang="en-US" sz="1550" dirty="0">
                <a:solidFill>
                  <a:srgbClr val="404155"/>
                </a:solidFill>
                <a:latin typeface="Nobile" pitchFamily="34" charset="0"/>
                <a:ea typeface="Nobile" pitchFamily="34" charset="-122"/>
                <a:cs typeface="Nobile" pitchFamily="34" charset="-120"/>
              </a:rPr>
              <a:t>Utilizar el simulador Cisco Packet Tracer para simular tecnologías que mejoren la eficiencia y reduzcan la huella de carbono.</a:t>
            </a:r>
            <a:endParaRPr lang="en-US" sz="1550" dirty="0"/>
          </a:p>
        </p:txBody>
      </p:sp>
      <p:sp>
        <p:nvSpPr>
          <p:cNvPr id="15" name="Shape 12"/>
          <p:cNvSpPr/>
          <p:nvPr/>
        </p:nvSpPr>
        <p:spPr>
          <a:xfrm>
            <a:off x="1220510" y="6296858"/>
            <a:ext cx="710565" cy="22860"/>
          </a:xfrm>
          <a:prstGeom prst="roundRect">
            <a:avLst>
              <a:gd name="adj" fmla="val 373005"/>
            </a:avLst>
          </a:prstGeom>
          <a:solidFill>
            <a:srgbClr val="B8C3DF"/>
          </a:solidFill>
          <a:ln/>
        </p:spPr>
        <p:txBody>
          <a:bodyPr/>
          <a:lstStyle/>
          <a:p>
            <a:endParaRPr lang="es-MX"/>
          </a:p>
        </p:txBody>
      </p:sp>
      <p:sp>
        <p:nvSpPr>
          <p:cNvPr id="16" name="Shape 13"/>
          <p:cNvSpPr/>
          <p:nvPr/>
        </p:nvSpPr>
        <p:spPr>
          <a:xfrm>
            <a:off x="786646" y="6079927"/>
            <a:ext cx="456724" cy="456724"/>
          </a:xfrm>
          <a:prstGeom prst="roundRect">
            <a:avLst>
              <a:gd name="adj" fmla="val 18670"/>
            </a:avLst>
          </a:prstGeom>
          <a:solidFill>
            <a:srgbClr val="D2DDF9"/>
          </a:solidFill>
          <a:ln w="7620">
            <a:solidFill>
              <a:srgbClr val="B8C3DF"/>
            </a:solidFill>
            <a:prstDash val="solid"/>
          </a:ln>
        </p:spPr>
        <p:txBody>
          <a:bodyPr/>
          <a:lstStyle/>
          <a:p>
            <a:endParaRPr lang="es-MX"/>
          </a:p>
        </p:txBody>
      </p:sp>
      <p:sp>
        <p:nvSpPr>
          <p:cNvPr id="17" name="Text 14"/>
          <p:cNvSpPr/>
          <p:nvPr/>
        </p:nvSpPr>
        <p:spPr>
          <a:xfrm>
            <a:off x="925235" y="6156008"/>
            <a:ext cx="179427" cy="304562"/>
          </a:xfrm>
          <a:prstGeom prst="rect">
            <a:avLst/>
          </a:prstGeom>
          <a:noFill/>
          <a:ln/>
        </p:spPr>
        <p:txBody>
          <a:bodyPr wrap="none" lIns="0" tIns="0" rIns="0" bIns="0" rtlCol="0" anchor="t"/>
          <a:lstStyle/>
          <a:p>
            <a:pPr marL="0" indent="0" algn="ctr">
              <a:lnSpc>
                <a:spcPts val="2350"/>
              </a:lnSpc>
              <a:buNone/>
            </a:pPr>
            <a:r>
              <a:rPr lang="en-US" sz="2350" dirty="0">
                <a:solidFill>
                  <a:srgbClr val="404155"/>
                </a:solidFill>
                <a:latin typeface="Alexandria" pitchFamily="34" charset="0"/>
                <a:ea typeface="Alexandria" pitchFamily="34" charset="-122"/>
                <a:cs typeface="Alexandria" pitchFamily="34" charset="-120"/>
              </a:rPr>
              <a:t>3</a:t>
            </a:r>
            <a:endParaRPr lang="en-US" sz="2350" dirty="0"/>
          </a:p>
        </p:txBody>
      </p:sp>
      <p:sp>
        <p:nvSpPr>
          <p:cNvPr id="18" name="Text 15"/>
          <p:cNvSpPr/>
          <p:nvPr/>
        </p:nvSpPr>
        <p:spPr>
          <a:xfrm>
            <a:off x="2131576" y="6054566"/>
            <a:ext cx="2537698" cy="317063"/>
          </a:xfrm>
          <a:prstGeom prst="rect">
            <a:avLst/>
          </a:prstGeom>
          <a:noFill/>
          <a:ln/>
        </p:spPr>
        <p:txBody>
          <a:bodyPr wrap="none" lIns="0" tIns="0" rIns="0" bIns="0" rtlCol="0" anchor="t"/>
          <a:lstStyle/>
          <a:p>
            <a:pPr marL="0" indent="0" algn="l">
              <a:lnSpc>
                <a:spcPts val="2450"/>
              </a:lnSpc>
              <a:buNone/>
            </a:pPr>
            <a:r>
              <a:rPr lang="en-US" sz="1950" dirty="0">
                <a:solidFill>
                  <a:srgbClr val="404155"/>
                </a:solidFill>
                <a:latin typeface="Alexandria" pitchFamily="34" charset="0"/>
                <a:ea typeface="Alexandria" pitchFamily="34" charset="-122"/>
                <a:cs typeface="Alexandria" pitchFamily="34" charset="-120"/>
              </a:rPr>
              <a:t>Implementación</a:t>
            </a:r>
            <a:endParaRPr lang="en-US" sz="1950" dirty="0"/>
          </a:p>
        </p:txBody>
      </p:sp>
      <p:sp>
        <p:nvSpPr>
          <p:cNvPr id="19" name="Text 16"/>
          <p:cNvSpPr/>
          <p:nvPr/>
        </p:nvSpPr>
        <p:spPr>
          <a:xfrm>
            <a:off x="2131576" y="6493431"/>
            <a:ext cx="6301859" cy="649605"/>
          </a:xfrm>
          <a:prstGeom prst="rect">
            <a:avLst/>
          </a:prstGeom>
          <a:noFill/>
          <a:ln/>
        </p:spPr>
        <p:txBody>
          <a:bodyPr wrap="square" lIns="0" tIns="0" rIns="0" bIns="0" rtlCol="0" anchor="t"/>
          <a:lstStyle/>
          <a:p>
            <a:pPr marL="0" indent="0" algn="l">
              <a:lnSpc>
                <a:spcPts val="2550"/>
              </a:lnSpc>
              <a:buNone/>
            </a:pPr>
            <a:r>
              <a:rPr lang="en-US" sz="1550" dirty="0">
                <a:solidFill>
                  <a:srgbClr val="404155"/>
                </a:solidFill>
                <a:latin typeface="Nobile" pitchFamily="34" charset="0"/>
                <a:ea typeface="Nobile" pitchFamily="34" charset="-122"/>
                <a:cs typeface="Nobile" pitchFamily="34" charset="-120"/>
              </a:rPr>
              <a:t>Promover la sostenibilidad y proteger el medio ambiente, mientras se mejora la eficiencia y productividad de la empresa.</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683073"/>
            <a:ext cx="7194352"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Alexandria" pitchFamily="34" charset="0"/>
                <a:ea typeface="Alexandria" pitchFamily="34" charset="-122"/>
                <a:cs typeface="Alexandria" pitchFamily="34" charset="-120"/>
              </a:rPr>
              <a:t>Justificación del proyecto</a:t>
            </a:r>
            <a:endParaRPr lang="en-US" sz="4450" dirty="0"/>
          </a:p>
        </p:txBody>
      </p:sp>
      <p:sp>
        <p:nvSpPr>
          <p:cNvPr id="4" name="Text 1"/>
          <p:cNvSpPr/>
          <p:nvPr/>
        </p:nvSpPr>
        <p:spPr>
          <a:xfrm>
            <a:off x="6280190" y="3732014"/>
            <a:ext cx="7556421" cy="1814513"/>
          </a:xfrm>
          <a:prstGeom prst="rect">
            <a:avLst/>
          </a:prstGeom>
          <a:noFill/>
          <a:ln/>
        </p:spPr>
        <p:txBody>
          <a:bodyPr wrap="square" lIns="0" tIns="0" rIns="0" bIns="0" rtlCol="0" anchor="t"/>
          <a:lstStyle/>
          <a:p>
            <a:pPr marL="0" indent="0" algn="ctr">
              <a:lnSpc>
                <a:spcPts val="2850"/>
              </a:lnSpc>
              <a:buNone/>
            </a:pPr>
            <a:r>
              <a:rPr lang="en-US" sz="1750" dirty="0">
                <a:solidFill>
                  <a:srgbClr val="404155"/>
                </a:solidFill>
                <a:latin typeface="Nobile" pitchFamily="34" charset="0"/>
                <a:ea typeface="Nobile" pitchFamily="34" charset="-122"/>
                <a:cs typeface="Nobile" pitchFamily="34" charset="-120"/>
              </a:rPr>
              <a:t>Se justifica debido a la necesidad urgente de abordar el impacto ambiental de la industria atunera en Mazatlán, Sinaloa. La empresa PINSA, líder en este sector, tiene la oportunidad de implementar prácticas sostenibles que reduzcan su huella ambiental y protejan la biodiversidad marina.</a:t>
            </a:r>
            <a:endParaRPr lang="en-US" sz="1750" dirty="0"/>
          </a:p>
        </p:txBody>
      </p:sp>
      <p:sp>
        <p:nvSpPr>
          <p:cNvPr id="5" name="Rectángulo 4">
            <a:extLst>
              <a:ext uri="{FF2B5EF4-FFF2-40B4-BE49-F238E27FC236}">
                <a16:creationId xmlns:a16="http://schemas.microsoft.com/office/drawing/2014/main" id="{3E896B76-A3DC-2A87-1879-4BB06AE31FE1}"/>
              </a:ext>
            </a:extLst>
          </p:cNvPr>
          <p:cNvSpPr/>
          <p:nvPr/>
        </p:nvSpPr>
        <p:spPr>
          <a:xfrm>
            <a:off x="12715875" y="7391400"/>
            <a:ext cx="1914525" cy="83820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13410" y="481965"/>
            <a:ext cx="6062305" cy="547688"/>
          </a:xfrm>
          <a:prstGeom prst="rect">
            <a:avLst/>
          </a:prstGeom>
          <a:noFill/>
          <a:ln/>
        </p:spPr>
        <p:txBody>
          <a:bodyPr wrap="none" lIns="0" tIns="0" rIns="0" bIns="0" rtlCol="0" anchor="t"/>
          <a:lstStyle/>
          <a:p>
            <a:pPr marL="0" indent="0">
              <a:lnSpc>
                <a:spcPts val="4300"/>
              </a:lnSpc>
              <a:buNone/>
            </a:pPr>
            <a:r>
              <a:rPr lang="en-US" sz="3450" dirty="0">
                <a:solidFill>
                  <a:srgbClr val="1B1B27"/>
                </a:solidFill>
                <a:latin typeface="Alexandria" pitchFamily="34" charset="0"/>
                <a:ea typeface="Alexandria" pitchFamily="34" charset="-122"/>
                <a:cs typeface="Alexandria" pitchFamily="34" charset="-120"/>
              </a:rPr>
              <a:t>Investigación de Estrategias</a:t>
            </a:r>
            <a:endParaRPr lang="en-US" sz="3450" dirty="0"/>
          </a:p>
        </p:txBody>
      </p:sp>
      <p:sp>
        <p:nvSpPr>
          <p:cNvPr id="3" name="Text 1"/>
          <p:cNvSpPr/>
          <p:nvPr/>
        </p:nvSpPr>
        <p:spPr>
          <a:xfrm>
            <a:off x="613410" y="1380173"/>
            <a:ext cx="13403580" cy="280392"/>
          </a:xfrm>
          <a:prstGeom prst="rect">
            <a:avLst/>
          </a:prstGeom>
          <a:noFill/>
          <a:ln/>
        </p:spPr>
        <p:txBody>
          <a:bodyPr wrap="none" lIns="0" tIns="0" rIns="0" bIns="0" rtlCol="0" anchor="t"/>
          <a:lstStyle/>
          <a:p>
            <a:pPr marL="0" indent="0">
              <a:lnSpc>
                <a:spcPts val="2200"/>
              </a:lnSpc>
              <a:buNone/>
            </a:pPr>
            <a:r>
              <a:rPr lang="en-US" sz="1350" dirty="0">
                <a:solidFill>
                  <a:srgbClr val="404155"/>
                </a:solidFill>
                <a:latin typeface="Nobile" pitchFamily="34" charset="0"/>
                <a:ea typeface="Nobile" pitchFamily="34" charset="-122"/>
                <a:cs typeface="Nobile" pitchFamily="34" charset="-120"/>
              </a:rPr>
              <a:t>Basados en investigaciones de empresas como Google, Facebook y Amazon:</a:t>
            </a:r>
            <a:endParaRPr lang="en-US" sz="1350" dirty="0"/>
          </a:p>
        </p:txBody>
      </p:sp>
      <p:sp>
        <p:nvSpPr>
          <p:cNvPr id="4" name="Text 2"/>
          <p:cNvSpPr/>
          <p:nvPr/>
        </p:nvSpPr>
        <p:spPr>
          <a:xfrm>
            <a:off x="613410" y="1857732"/>
            <a:ext cx="13403580" cy="560784"/>
          </a:xfrm>
          <a:prstGeom prst="rect">
            <a:avLst/>
          </a:prstGeom>
          <a:noFill/>
          <a:ln/>
        </p:spPr>
        <p:txBody>
          <a:bodyPr wrap="square" lIns="0" tIns="0" rIns="0" bIns="0" rtlCol="0" anchor="t"/>
          <a:lstStyle/>
          <a:p>
            <a:pPr marL="0" indent="0">
              <a:lnSpc>
                <a:spcPts val="2200"/>
              </a:lnSpc>
              <a:buNone/>
            </a:pPr>
            <a:r>
              <a:rPr lang="en-US" sz="1350" b="1" dirty="0">
                <a:solidFill>
                  <a:srgbClr val="404155"/>
                </a:solidFill>
                <a:latin typeface="Nobile" pitchFamily="34" charset="0"/>
                <a:ea typeface="Nobile" pitchFamily="34" charset="-122"/>
                <a:cs typeface="Nobile" pitchFamily="34" charset="-120"/>
              </a:rPr>
              <a:t>Compromiso con la energía renovable</a:t>
            </a:r>
            <a:r>
              <a:rPr lang="en-US" sz="1350" dirty="0">
                <a:solidFill>
                  <a:srgbClr val="404155"/>
                </a:solidFill>
                <a:latin typeface="Nobile" pitchFamily="34" charset="0"/>
                <a:ea typeface="Nobile" pitchFamily="34" charset="-122"/>
                <a:cs typeface="Nobile" pitchFamily="34" charset="-120"/>
              </a:rPr>
              <a:t>: Las tres compañías tienen objetivos ambiciosos para utilizar energía 100% renovable en sus operaciones, aunque con diferentes plazos. Esto se logra mediante la inversión en proyectos de energía eólica y solar, y acuerdos de compra de energía (PPA).</a:t>
            </a:r>
            <a:endParaRPr lang="en-US" sz="1350" dirty="0"/>
          </a:p>
        </p:txBody>
      </p:sp>
      <p:sp>
        <p:nvSpPr>
          <p:cNvPr id="5" name="Text 3"/>
          <p:cNvSpPr/>
          <p:nvPr/>
        </p:nvSpPr>
        <p:spPr>
          <a:xfrm>
            <a:off x="613410" y="2615684"/>
            <a:ext cx="13403580" cy="560784"/>
          </a:xfrm>
          <a:prstGeom prst="rect">
            <a:avLst/>
          </a:prstGeom>
          <a:noFill/>
          <a:ln/>
        </p:spPr>
        <p:txBody>
          <a:bodyPr wrap="square" lIns="0" tIns="0" rIns="0" bIns="0" rtlCol="0" anchor="t"/>
          <a:lstStyle/>
          <a:p>
            <a:pPr marL="0" indent="0">
              <a:lnSpc>
                <a:spcPts val="2200"/>
              </a:lnSpc>
              <a:buNone/>
            </a:pPr>
            <a:r>
              <a:rPr lang="en-US" sz="1350" b="1" dirty="0">
                <a:solidFill>
                  <a:srgbClr val="404155"/>
                </a:solidFill>
                <a:latin typeface="Nobile" pitchFamily="34" charset="0"/>
                <a:ea typeface="Nobile" pitchFamily="34" charset="-122"/>
                <a:cs typeface="Nobile" pitchFamily="34" charset="-120"/>
              </a:rPr>
              <a:t>Enfriamiento eficiente</a:t>
            </a:r>
            <a:r>
              <a:rPr lang="en-US" sz="1350" dirty="0">
                <a:solidFill>
                  <a:srgbClr val="404155"/>
                </a:solidFill>
                <a:latin typeface="Nobile" pitchFamily="34" charset="0"/>
                <a:ea typeface="Nobile" pitchFamily="34" charset="-122"/>
                <a:cs typeface="Nobile" pitchFamily="34" charset="-120"/>
              </a:rPr>
              <a:t>: Utilizan tecnologías de enfriamiento como la refrigeración por aire, la refrigeración evaporativa y free-cooling para reducir el consumo energético en sus centros de datos.</a:t>
            </a:r>
            <a:endParaRPr lang="en-US" sz="1350" dirty="0"/>
          </a:p>
        </p:txBody>
      </p:sp>
      <p:sp>
        <p:nvSpPr>
          <p:cNvPr id="6" name="Text 4"/>
          <p:cNvSpPr/>
          <p:nvPr/>
        </p:nvSpPr>
        <p:spPr>
          <a:xfrm>
            <a:off x="613410" y="3373636"/>
            <a:ext cx="13403580" cy="560784"/>
          </a:xfrm>
          <a:prstGeom prst="rect">
            <a:avLst/>
          </a:prstGeom>
          <a:noFill/>
          <a:ln/>
        </p:spPr>
        <p:txBody>
          <a:bodyPr wrap="square" lIns="0" tIns="0" rIns="0" bIns="0" rtlCol="0" anchor="t"/>
          <a:lstStyle/>
          <a:p>
            <a:pPr marL="0" indent="0">
              <a:lnSpc>
                <a:spcPts val="2200"/>
              </a:lnSpc>
              <a:buNone/>
            </a:pPr>
            <a:r>
              <a:rPr lang="en-US" sz="1350" b="1" dirty="0">
                <a:solidFill>
                  <a:srgbClr val="404155"/>
                </a:solidFill>
                <a:latin typeface="Nobile" pitchFamily="34" charset="0"/>
                <a:ea typeface="Nobile" pitchFamily="34" charset="-122"/>
                <a:cs typeface="Nobile" pitchFamily="34" charset="-120"/>
              </a:rPr>
              <a:t>Gestión inteligente de la energía</a:t>
            </a:r>
            <a:r>
              <a:rPr lang="en-US" sz="1350" dirty="0">
                <a:solidFill>
                  <a:srgbClr val="404155"/>
                </a:solidFill>
                <a:latin typeface="Nobile" pitchFamily="34" charset="0"/>
                <a:ea typeface="Nobile" pitchFamily="34" charset="-122"/>
                <a:cs typeface="Nobile" pitchFamily="34" charset="-120"/>
              </a:rPr>
              <a:t>: Implementan sistemas de gestión de energía en tiempo real, optimizan el uso de servidores y utilizan machine learning para predecir la demanda energética y ajustar el consumo.</a:t>
            </a:r>
            <a:endParaRPr lang="en-US" sz="1350" dirty="0"/>
          </a:p>
        </p:txBody>
      </p:sp>
      <p:sp>
        <p:nvSpPr>
          <p:cNvPr id="7" name="Text 5"/>
          <p:cNvSpPr/>
          <p:nvPr/>
        </p:nvSpPr>
        <p:spPr>
          <a:xfrm>
            <a:off x="613410" y="4131588"/>
            <a:ext cx="13403580" cy="560784"/>
          </a:xfrm>
          <a:prstGeom prst="rect">
            <a:avLst/>
          </a:prstGeom>
          <a:noFill/>
          <a:ln/>
        </p:spPr>
        <p:txBody>
          <a:bodyPr wrap="square" lIns="0" tIns="0" rIns="0" bIns="0" rtlCol="0" anchor="t"/>
          <a:lstStyle/>
          <a:p>
            <a:pPr marL="0" indent="0">
              <a:lnSpc>
                <a:spcPts val="2200"/>
              </a:lnSpc>
              <a:buNone/>
            </a:pPr>
            <a:r>
              <a:rPr lang="en-US" sz="1350" b="1" dirty="0">
                <a:solidFill>
                  <a:srgbClr val="404155"/>
                </a:solidFill>
                <a:latin typeface="Nobile" pitchFamily="34" charset="0"/>
                <a:ea typeface="Nobile" pitchFamily="34" charset="-122"/>
                <a:cs typeface="Nobile" pitchFamily="34" charset="-120"/>
              </a:rPr>
              <a:t>Diseño de centros de datos</a:t>
            </a:r>
            <a:r>
              <a:rPr lang="en-US" sz="1350" dirty="0">
                <a:solidFill>
                  <a:srgbClr val="404155"/>
                </a:solidFill>
                <a:latin typeface="Nobile" pitchFamily="34" charset="0"/>
                <a:ea typeface="Nobile" pitchFamily="34" charset="-122"/>
                <a:cs typeface="Nobile" pitchFamily="34" charset="-120"/>
              </a:rPr>
              <a:t>: Optimizan el diseño y la construcción de sus centros de datos para maximizar la eficiencia energética, utilizando materiales de construcción eficientes y optimizando el flujo de aire.</a:t>
            </a:r>
            <a:endParaRPr lang="en-US" sz="1350" dirty="0"/>
          </a:p>
        </p:txBody>
      </p:sp>
      <p:sp>
        <p:nvSpPr>
          <p:cNvPr id="8" name="Text 6"/>
          <p:cNvSpPr/>
          <p:nvPr/>
        </p:nvSpPr>
        <p:spPr>
          <a:xfrm>
            <a:off x="613410" y="4889540"/>
            <a:ext cx="13403580" cy="560784"/>
          </a:xfrm>
          <a:prstGeom prst="rect">
            <a:avLst/>
          </a:prstGeom>
          <a:noFill/>
          <a:ln/>
        </p:spPr>
        <p:txBody>
          <a:bodyPr wrap="square" lIns="0" tIns="0" rIns="0" bIns="0" rtlCol="0" anchor="t"/>
          <a:lstStyle/>
          <a:p>
            <a:pPr marL="0" indent="0">
              <a:lnSpc>
                <a:spcPts val="2200"/>
              </a:lnSpc>
              <a:buNone/>
            </a:pPr>
            <a:r>
              <a:rPr lang="en-US" sz="1350" b="1" dirty="0">
                <a:solidFill>
                  <a:srgbClr val="404155"/>
                </a:solidFill>
                <a:latin typeface="Nobile" pitchFamily="34" charset="0"/>
                <a:ea typeface="Nobile" pitchFamily="34" charset="-122"/>
                <a:cs typeface="Nobile" pitchFamily="34" charset="-120"/>
              </a:rPr>
              <a:t>Otras iniciativas</a:t>
            </a:r>
            <a:r>
              <a:rPr lang="en-US" sz="1350" dirty="0">
                <a:solidFill>
                  <a:srgbClr val="404155"/>
                </a:solidFill>
                <a:latin typeface="Nobile" pitchFamily="34" charset="0"/>
                <a:ea typeface="Nobile" pitchFamily="34" charset="-122"/>
                <a:cs typeface="Nobile" pitchFamily="34" charset="-120"/>
              </a:rPr>
              <a:t>: Las tres compañías implementan programas de concienciación de empleados, utilizan vehículos eléctricos en sus flotas e invierten en tecnologías de eficiencia energética para sus productos.</a:t>
            </a:r>
            <a:endParaRPr lang="en-US" sz="1350" dirty="0"/>
          </a:p>
        </p:txBody>
      </p:sp>
      <p:sp>
        <p:nvSpPr>
          <p:cNvPr id="9" name="Text 7"/>
          <p:cNvSpPr/>
          <p:nvPr/>
        </p:nvSpPr>
        <p:spPr>
          <a:xfrm>
            <a:off x="613410" y="5647492"/>
            <a:ext cx="13403580" cy="280392"/>
          </a:xfrm>
          <a:prstGeom prst="rect">
            <a:avLst/>
          </a:prstGeom>
          <a:noFill/>
          <a:ln/>
        </p:spPr>
        <p:txBody>
          <a:bodyPr wrap="none" lIns="0" tIns="0" rIns="0" bIns="0" rtlCol="0" anchor="t"/>
          <a:lstStyle/>
          <a:p>
            <a:pPr marL="0" indent="0">
              <a:lnSpc>
                <a:spcPts val="2200"/>
              </a:lnSpc>
              <a:buNone/>
            </a:pPr>
            <a:r>
              <a:rPr lang="en-US" sz="1350" dirty="0">
                <a:solidFill>
                  <a:srgbClr val="404155"/>
                </a:solidFill>
                <a:latin typeface="Nobile" pitchFamily="34" charset="0"/>
                <a:ea typeface="Nobile" pitchFamily="34" charset="-122"/>
                <a:cs typeface="Nobile" pitchFamily="34" charset="-120"/>
              </a:rPr>
              <a:t>En Resumen</a:t>
            </a:r>
            <a:endParaRPr lang="en-US" sz="1350" dirty="0"/>
          </a:p>
        </p:txBody>
      </p:sp>
      <p:sp>
        <p:nvSpPr>
          <p:cNvPr id="10" name="Text 8"/>
          <p:cNvSpPr/>
          <p:nvPr/>
        </p:nvSpPr>
        <p:spPr>
          <a:xfrm>
            <a:off x="613410" y="6300311"/>
            <a:ext cx="2190750" cy="273844"/>
          </a:xfrm>
          <a:prstGeom prst="rect">
            <a:avLst/>
          </a:prstGeom>
          <a:noFill/>
          <a:ln/>
        </p:spPr>
        <p:txBody>
          <a:bodyPr wrap="none" lIns="0" tIns="0" rIns="0" bIns="0" rtlCol="0" anchor="t"/>
          <a:lstStyle/>
          <a:p>
            <a:pPr marL="0" indent="0">
              <a:lnSpc>
                <a:spcPts val="2150"/>
              </a:lnSpc>
              <a:buNone/>
            </a:pPr>
            <a:r>
              <a:rPr lang="en-US" sz="1700" dirty="0">
                <a:solidFill>
                  <a:srgbClr val="1B1B27"/>
                </a:solidFill>
                <a:latin typeface="Alexandria" pitchFamily="34" charset="0"/>
                <a:ea typeface="Alexandria" pitchFamily="34" charset="-122"/>
                <a:cs typeface="Alexandria" pitchFamily="34" charset="-120"/>
              </a:rPr>
              <a:t>Google</a:t>
            </a:r>
            <a:endParaRPr lang="en-US" sz="1700" dirty="0"/>
          </a:p>
        </p:txBody>
      </p:sp>
      <p:sp>
        <p:nvSpPr>
          <p:cNvPr id="11" name="Text 9"/>
          <p:cNvSpPr/>
          <p:nvPr/>
        </p:nvSpPr>
        <p:spPr>
          <a:xfrm>
            <a:off x="613410" y="6749415"/>
            <a:ext cx="4182428" cy="841177"/>
          </a:xfrm>
          <a:prstGeom prst="rect">
            <a:avLst/>
          </a:prstGeom>
          <a:noFill/>
          <a:ln/>
        </p:spPr>
        <p:txBody>
          <a:bodyPr wrap="square" lIns="0" tIns="0" rIns="0" bIns="0" rtlCol="0" anchor="t"/>
          <a:lstStyle/>
          <a:p>
            <a:pPr marL="0" indent="0">
              <a:lnSpc>
                <a:spcPts val="2200"/>
              </a:lnSpc>
              <a:buNone/>
            </a:pPr>
            <a:r>
              <a:rPr lang="en-US" sz="1350" dirty="0">
                <a:solidFill>
                  <a:srgbClr val="404155"/>
                </a:solidFill>
                <a:latin typeface="Nobile" pitchFamily="34" charset="0"/>
                <a:ea typeface="Nobile" pitchFamily="34" charset="-122"/>
                <a:cs typeface="Nobile" pitchFamily="34" charset="-120"/>
              </a:rPr>
              <a:t>Compromiso con la energía renovable, sistemas de enfriamiento avanzados, gestión inteligente de la energía.</a:t>
            </a:r>
            <a:endParaRPr lang="en-US" sz="1350" dirty="0"/>
          </a:p>
        </p:txBody>
      </p:sp>
      <p:sp>
        <p:nvSpPr>
          <p:cNvPr id="12" name="Text 10"/>
          <p:cNvSpPr/>
          <p:nvPr/>
        </p:nvSpPr>
        <p:spPr>
          <a:xfrm>
            <a:off x="5230892" y="6300311"/>
            <a:ext cx="2190750" cy="273844"/>
          </a:xfrm>
          <a:prstGeom prst="rect">
            <a:avLst/>
          </a:prstGeom>
          <a:noFill/>
          <a:ln/>
        </p:spPr>
        <p:txBody>
          <a:bodyPr wrap="none" lIns="0" tIns="0" rIns="0" bIns="0" rtlCol="0" anchor="t"/>
          <a:lstStyle/>
          <a:p>
            <a:pPr marL="0" indent="0">
              <a:lnSpc>
                <a:spcPts val="2150"/>
              </a:lnSpc>
              <a:buNone/>
            </a:pPr>
            <a:r>
              <a:rPr lang="en-US" sz="1700" dirty="0">
                <a:solidFill>
                  <a:srgbClr val="1B1B27"/>
                </a:solidFill>
                <a:latin typeface="Alexandria" pitchFamily="34" charset="0"/>
                <a:ea typeface="Alexandria" pitchFamily="34" charset="-122"/>
                <a:cs typeface="Alexandria" pitchFamily="34" charset="-120"/>
              </a:rPr>
              <a:t>Facebook</a:t>
            </a:r>
            <a:endParaRPr lang="en-US" sz="1700" dirty="0"/>
          </a:p>
        </p:txBody>
      </p:sp>
      <p:sp>
        <p:nvSpPr>
          <p:cNvPr id="13" name="Text 11"/>
          <p:cNvSpPr/>
          <p:nvPr/>
        </p:nvSpPr>
        <p:spPr>
          <a:xfrm>
            <a:off x="5230892" y="6749415"/>
            <a:ext cx="4182428" cy="841177"/>
          </a:xfrm>
          <a:prstGeom prst="rect">
            <a:avLst/>
          </a:prstGeom>
          <a:noFill/>
          <a:ln/>
        </p:spPr>
        <p:txBody>
          <a:bodyPr wrap="square" lIns="0" tIns="0" rIns="0" bIns="0" rtlCol="0" anchor="t"/>
          <a:lstStyle/>
          <a:p>
            <a:pPr marL="0" indent="0">
              <a:lnSpc>
                <a:spcPts val="2200"/>
              </a:lnSpc>
              <a:buNone/>
            </a:pPr>
            <a:r>
              <a:rPr lang="en-US" sz="1350" dirty="0">
                <a:solidFill>
                  <a:srgbClr val="404155"/>
                </a:solidFill>
                <a:latin typeface="Nobile" pitchFamily="34" charset="0"/>
                <a:ea typeface="Nobile" pitchFamily="34" charset="-122"/>
                <a:cs typeface="Nobile" pitchFamily="34" charset="-120"/>
              </a:rPr>
              <a:t>Energía renovable, tecnologías de enfriamiento eficientes, gestión inteligente de la energía, diseño de centros de datos.</a:t>
            </a:r>
            <a:endParaRPr lang="en-US" sz="1350" dirty="0"/>
          </a:p>
        </p:txBody>
      </p:sp>
      <p:sp>
        <p:nvSpPr>
          <p:cNvPr id="14" name="Text 12"/>
          <p:cNvSpPr/>
          <p:nvPr/>
        </p:nvSpPr>
        <p:spPr>
          <a:xfrm>
            <a:off x="9848374" y="6300311"/>
            <a:ext cx="2190750" cy="273844"/>
          </a:xfrm>
          <a:prstGeom prst="rect">
            <a:avLst/>
          </a:prstGeom>
          <a:noFill/>
          <a:ln/>
        </p:spPr>
        <p:txBody>
          <a:bodyPr wrap="none" lIns="0" tIns="0" rIns="0" bIns="0" rtlCol="0" anchor="t"/>
          <a:lstStyle/>
          <a:p>
            <a:pPr marL="0" indent="0">
              <a:lnSpc>
                <a:spcPts val="2150"/>
              </a:lnSpc>
              <a:buNone/>
            </a:pPr>
            <a:r>
              <a:rPr lang="en-US" sz="1700" dirty="0">
                <a:solidFill>
                  <a:srgbClr val="1B1B27"/>
                </a:solidFill>
                <a:latin typeface="Alexandria" pitchFamily="34" charset="0"/>
                <a:ea typeface="Alexandria" pitchFamily="34" charset="-122"/>
                <a:cs typeface="Alexandria" pitchFamily="34" charset="-120"/>
              </a:rPr>
              <a:t>Amazon</a:t>
            </a:r>
            <a:endParaRPr lang="en-US" sz="1700" dirty="0"/>
          </a:p>
        </p:txBody>
      </p:sp>
      <p:sp>
        <p:nvSpPr>
          <p:cNvPr id="15" name="Text 13"/>
          <p:cNvSpPr/>
          <p:nvPr/>
        </p:nvSpPr>
        <p:spPr>
          <a:xfrm>
            <a:off x="9848374" y="6749415"/>
            <a:ext cx="4182428" cy="841177"/>
          </a:xfrm>
          <a:prstGeom prst="rect">
            <a:avLst/>
          </a:prstGeom>
          <a:noFill/>
          <a:ln/>
        </p:spPr>
        <p:txBody>
          <a:bodyPr wrap="square" lIns="0" tIns="0" rIns="0" bIns="0" rtlCol="0" anchor="t"/>
          <a:lstStyle/>
          <a:p>
            <a:pPr marL="0" indent="0">
              <a:lnSpc>
                <a:spcPts val="2200"/>
              </a:lnSpc>
              <a:buNone/>
            </a:pPr>
            <a:r>
              <a:rPr lang="en-US" sz="1350" dirty="0">
                <a:solidFill>
                  <a:srgbClr val="404155"/>
                </a:solidFill>
                <a:latin typeface="Nobile" pitchFamily="34" charset="0"/>
                <a:ea typeface="Nobile" pitchFamily="34" charset="-122"/>
                <a:cs typeface="Nobile" pitchFamily="34" charset="-120"/>
              </a:rPr>
              <a:t>Energía renovable, gestión inteligente de la energía, optimización del uso de servidores, machine learning.</a:t>
            </a:r>
            <a:endParaRPr lang="en-US" sz="1350" dirty="0"/>
          </a:p>
        </p:txBody>
      </p:sp>
      <p:sp>
        <p:nvSpPr>
          <p:cNvPr id="16" name="Rectángulo 15">
            <a:extLst>
              <a:ext uri="{FF2B5EF4-FFF2-40B4-BE49-F238E27FC236}">
                <a16:creationId xmlns:a16="http://schemas.microsoft.com/office/drawing/2014/main" id="{9868C3CB-5546-03D5-C354-F71D496263B7}"/>
              </a:ext>
            </a:extLst>
          </p:cNvPr>
          <p:cNvSpPr/>
          <p:nvPr/>
        </p:nvSpPr>
        <p:spPr>
          <a:xfrm>
            <a:off x="12715875" y="7391400"/>
            <a:ext cx="1914525" cy="83820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1029"/>
          </a:xfrm>
          <a:prstGeom prst="rect">
            <a:avLst/>
          </a:prstGeom>
        </p:spPr>
      </p:pic>
      <p:sp>
        <p:nvSpPr>
          <p:cNvPr id="3" name="Text 0"/>
          <p:cNvSpPr/>
          <p:nvPr/>
        </p:nvSpPr>
        <p:spPr>
          <a:xfrm>
            <a:off x="546140" y="429101"/>
            <a:ext cx="6299002" cy="487680"/>
          </a:xfrm>
          <a:prstGeom prst="rect">
            <a:avLst/>
          </a:prstGeom>
          <a:noFill/>
          <a:ln/>
        </p:spPr>
        <p:txBody>
          <a:bodyPr wrap="none" lIns="0" tIns="0" rIns="0" bIns="0" rtlCol="0" anchor="t"/>
          <a:lstStyle/>
          <a:p>
            <a:pPr marL="0" indent="0">
              <a:lnSpc>
                <a:spcPts val="3800"/>
              </a:lnSpc>
              <a:buNone/>
            </a:pPr>
            <a:r>
              <a:rPr lang="en-US" sz="3050" dirty="0">
                <a:solidFill>
                  <a:srgbClr val="1B1B27"/>
                </a:solidFill>
                <a:latin typeface="Alexandria" pitchFamily="34" charset="0"/>
                <a:ea typeface="Alexandria" pitchFamily="34" charset="-122"/>
                <a:cs typeface="Alexandria" pitchFamily="34" charset="-120"/>
              </a:rPr>
              <a:t>Adaptando las Mejores Prácticas</a:t>
            </a:r>
            <a:endParaRPr lang="en-US" sz="3050" dirty="0"/>
          </a:p>
        </p:txBody>
      </p:sp>
      <p:pic>
        <p:nvPicPr>
          <p:cNvPr id="4" name="Image 1" descr="preencoded.png"/>
          <p:cNvPicPr>
            <a:picLocks noChangeAspect="1"/>
          </p:cNvPicPr>
          <p:nvPr/>
        </p:nvPicPr>
        <p:blipFill>
          <a:blip r:embed="rId4"/>
          <a:stretch>
            <a:fillRect/>
          </a:stretch>
        </p:blipFill>
        <p:spPr>
          <a:xfrm>
            <a:off x="546140" y="1150858"/>
            <a:ext cx="390168" cy="390168"/>
          </a:xfrm>
          <a:prstGeom prst="rect">
            <a:avLst/>
          </a:prstGeom>
        </p:spPr>
      </p:pic>
      <p:sp>
        <p:nvSpPr>
          <p:cNvPr id="5" name="Text 1"/>
          <p:cNvSpPr/>
          <p:nvPr/>
        </p:nvSpPr>
        <p:spPr>
          <a:xfrm>
            <a:off x="546140" y="1696998"/>
            <a:ext cx="1950839" cy="243840"/>
          </a:xfrm>
          <a:prstGeom prst="rect">
            <a:avLst/>
          </a:prstGeom>
          <a:noFill/>
          <a:ln/>
        </p:spPr>
        <p:txBody>
          <a:bodyPr wrap="none" lIns="0" tIns="0" rIns="0" bIns="0" rtlCol="0" anchor="t"/>
          <a:lstStyle/>
          <a:p>
            <a:pPr marL="0" indent="0" algn="l">
              <a:lnSpc>
                <a:spcPts val="1900"/>
              </a:lnSpc>
              <a:buNone/>
            </a:pPr>
            <a:r>
              <a:rPr lang="en-US" sz="1500" dirty="0">
                <a:solidFill>
                  <a:srgbClr val="404155"/>
                </a:solidFill>
                <a:latin typeface="Alexandria" pitchFamily="34" charset="0"/>
                <a:ea typeface="Alexandria" pitchFamily="34" charset="-122"/>
                <a:cs typeface="Alexandria" pitchFamily="34" charset="-120"/>
              </a:rPr>
              <a:t>Barcos</a:t>
            </a:r>
            <a:endParaRPr lang="en-US" sz="1500" dirty="0"/>
          </a:p>
        </p:txBody>
      </p:sp>
      <p:sp>
        <p:nvSpPr>
          <p:cNvPr id="6" name="Text 2"/>
          <p:cNvSpPr/>
          <p:nvPr/>
        </p:nvSpPr>
        <p:spPr>
          <a:xfrm>
            <a:off x="546140" y="2034421"/>
            <a:ext cx="8051721" cy="249674"/>
          </a:xfrm>
          <a:prstGeom prst="rect">
            <a:avLst/>
          </a:prstGeom>
          <a:noFill/>
          <a:ln/>
        </p:spPr>
        <p:txBody>
          <a:bodyPr wrap="none" lIns="0" tIns="0" rIns="0" bIns="0" rtlCol="0" anchor="t"/>
          <a:lstStyle/>
          <a:p>
            <a:pPr marL="0" indent="0" algn="l">
              <a:lnSpc>
                <a:spcPts val="1950"/>
              </a:lnSpc>
              <a:buNone/>
            </a:pPr>
            <a:r>
              <a:rPr lang="en-US" sz="1200" dirty="0">
                <a:solidFill>
                  <a:srgbClr val="404155"/>
                </a:solidFill>
                <a:latin typeface="Nobile" pitchFamily="34" charset="0"/>
                <a:ea typeface="Nobile" pitchFamily="34" charset="-122"/>
                <a:cs typeface="Nobile" pitchFamily="34" charset="-120"/>
              </a:rPr>
              <a:t>Instalar paneles solares, optimizar sistemas de refrigeración, utilizar técnicas de pesca sostenible.</a:t>
            </a:r>
            <a:endParaRPr lang="en-US" sz="1200" dirty="0"/>
          </a:p>
        </p:txBody>
      </p:sp>
      <p:sp>
        <p:nvSpPr>
          <p:cNvPr id="7" name="Text 3"/>
          <p:cNvSpPr/>
          <p:nvPr/>
        </p:nvSpPr>
        <p:spPr>
          <a:xfrm>
            <a:off x="546140" y="2377678"/>
            <a:ext cx="8051721" cy="249674"/>
          </a:xfrm>
          <a:prstGeom prst="rect">
            <a:avLst/>
          </a:prstGeom>
          <a:noFill/>
          <a:ln/>
        </p:spPr>
        <p:txBody>
          <a:bodyPr wrap="none" lIns="0" tIns="0" rIns="0" bIns="0" rtlCol="0" anchor="t"/>
          <a:lstStyle/>
          <a:p>
            <a:pPr marL="0" indent="0" algn="l">
              <a:lnSpc>
                <a:spcPts val="1950"/>
              </a:lnSpc>
              <a:buNone/>
            </a:pPr>
            <a:r>
              <a:rPr lang="en-US" sz="1200" dirty="0">
                <a:solidFill>
                  <a:srgbClr val="404155"/>
                </a:solidFill>
                <a:latin typeface="Nobile" pitchFamily="34" charset="0"/>
                <a:ea typeface="Nobile" pitchFamily="34" charset="-122"/>
                <a:cs typeface="Nobile" pitchFamily="34" charset="-120"/>
              </a:rPr>
              <a:t>-</a:t>
            </a:r>
            <a:r>
              <a:rPr lang="en-US" sz="1200" b="1" dirty="0">
                <a:solidFill>
                  <a:srgbClr val="404155"/>
                </a:solidFill>
                <a:latin typeface="Nobile" pitchFamily="34" charset="0"/>
                <a:ea typeface="Nobile" pitchFamily="34" charset="-122"/>
                <a:cs typeface="Nobile" pitchFamily="34" charset="-120"/>
              </a:rPr>
              <a:t>Reducción de combustible</a:t>
            </a:r>
            <a:endParaRPr lang="en-US" sz="1200" dirty="0"/>
          </a:p>
        </p:txBody>
      </p:sp>
      <p:sp>
        <p:nvSpPr>
          <p:cNvPr id="8" name="Text 4"/>
          <p:cNvSpPr/>
          <p:nvPr/>
        </p:nvSpPr>
        <p:spPr>
          <a:xfrm>
            <a:off x="546140" y="2720935"/>
            <a:ext cx="8051721" cy="249674"/>
          </a:xfrm>
          <a:prstGeom prst="rect">
            <a:avLst/>
          </a:prstGeom>
          <a:noFill/>
          <a:ln/>
        </p:spPr>
        <p:txBody>
          <a:bodyPr wrap="none" lIns="0" tIns="0" rIns="0" bIns="0" rtlCol="0" anchor="t"/>
          <a:lstStyle/>
          <a:p>
            <a:pPr marL="0" indent="0" algn="l">
              <a:lnSpc>
                <a:spcPts val="1950"/>
              </a:lnSpc>
              <a:buNone/>
            </a:pPr>
            <a:r>
              <a:rPr lang="en-US" sz="1200" b="1" dirty="0">
                <a:solidFill>
                  <a:srgbClr val="404155"/>
                </a:solidFill>
                <a:latin typeface="Nobile" pitchFamily="34" charset="0"/>
                <a:ea typeface="Nobile" pitchFamily="34" charset="-122"/>
                <a:cs typeface="Nobile" pitchFamily="34" charset="-120"/>
              </a:rPr>
              <a:t>-Técnicas de pesca sostenible</a:t>
            </a:r>
            <a:endParaRPr lang="en-US" sz="1200" dirty="0"/>
          </a:p>
        </p:txBody>
      </p:sp>
      <p:pic>
        <p:nvPicPr>
          <p:cNvPr id="9" name="Image 2" descr="preencoded.png"/>
          <p:cNvPicPr>
            <a:picLocks noChangeAspect="1"/>
          </p:cNvPicPr>
          <p:nvPr/>
        </p:nvPicPr>
        <p:blipFill>
          <a:blip r:embed="rId5"/>
          <a:stretch>
            <a:fillRect/>
          </a:stretch>
        </p:blipFill>
        <p:spPr>
          <a:xfrm>
            <a:off x="546140" y="3438763"/>
            <a:ext cx="390168" cy="390168"/>
          </a:xfrm>
          <a:prstGeom prst="rect">
            <a:avLst/>
          </a:prstGeom>
        </p:spPr>
      </p:pic>
      <p:sp>
        <p:nvSpPr>
          <p:cNvPr id="10" name="Text 5"/>
          <p:cNvSpPr/>
          <p:nvPr/>
        </p:nvSpPr>
        <p:spPr>
          <a:xfrm>
            <a:off x="546140" y="3984903"/>
            <a:ext cx="1950839" cy="243840"/>
          </a:xfrm>
          <a:prstGeom prst="rect">
            <a:avLst/>
          </a:prstGeom>
          <a:noFill/>
          <a:ln/>
        </p:spPr>
        <p:txBody>
          <a:bodyPr wrap="none" lIns="0" tIns="0" rIns="0" bIns="0" rtlCol="0" anchor="t"/>
          <a:lstStyle/>
          <a:p>
            <a:pPr marL="0" indent="0" algn="l">
              <a:lnSpc>
                <a:spcPts val="1900"/>
              </a:lnSpc>
              <a:buNone/>
            </a:pPr>
            <a:r>
              <a:rPr lang="en-US" sz="1500" dirty="0">
                <a:solidFill>
                  <a:srgbClr val="404155"/>
                </a:solidFill>
                <a:latin typeface="Alexandria" pitchFamily="34" charset="0"/>
                <a:ea typeface="Alexandria" pitchFamily="34" charset="-122"/>
                <a:cs typeface="Alexandria" pitchFamily="34" charset="-120"/>
              </a:rPr>
              <a:t>Fábricas</a:t>
            </a:r>
            <a:endParaRPr lang="en-US" sz="1500" dirty="0"/>
          </a:p>
        </p:txBody>
      </p:sp>
      <p:sp>
        <p:nvSpPr>
          <p:cNvPr id="11" name="Text 6"/>
          <p:cNvSpPr/>
          <p:nvPr/>
        </p:nvSpPr>
        <p:spPr>
          <a:xfrm>
            <a:off x="546140" y="4322326"/>
            <a:ext cx="8051721" cy="249674"/>
          </a:xfrm>
          <a:prstGeom prst="rect">
            <a:avLst/>
          </a:prstGeom>
          <a:noFill/>
          <a:ln/>
        </p:spPr>
        <p:txBody>
          <a:bodyPr wrap="none" lIns="0" tIns="0" rIns="0" bIns="0" rtlCol="0" anchor="t"/>
          <a:lstStyle/>
          <a:p>
            <a:pPr marL="0" indent="0" algn="l">
              <a:lnSpc>
                <a:spcPts val="1950"/>
              </a:lnSpc>
              <a:buNone/>
            </a:pPr>
            <a:r>
              <a:rPr lang="en-US" sz="1200" dirty="0">
                <a:solidFill>
                  <a:srgbClr val="404155"/>
                </a:solidFill>
                <a:latin typeface="Nobile" pitchFamily="34" charset="0"/>
                <a:ea typeface="Nobile" pitchFamily="34" charset="-122"/>
                <a:cs typeface="Nobile" pitchFamily="34" charset="-120"/>
              </a:rPr>
              <a:t>Utilizar energía renovable, implementar sistemas de refrigeración eficientes, reducir residuos.</a:t>
            </a:r>
            <a:endParaRPr lang="en-US" sz="1200" dirty="0"/>
          </a:p>
        </p:txBody>
      </p:sp>
      <p:sp>
        <p:nvSpPr>
          <p:cNvPr id="12" name="Text 7"/>
          <p:cNvSpPr/>
          <p:nvPr/>
        </p:nvSpPr>
        <p:spPr>
          <a:xfrm>
            <a:off x="546140" y="4665583"/>
            <a:ext cx="8051721" cy="249674"/>
          </a:xfrm>
          <a:prstGeom prst="rect">
            <a:avLst/>
          </a:prstGeom>
          <a:noFill/>
          <a:ln/>
        </p:spPr>
        <p:txBody>
          <a:bodyPr wrap="none" lIns="0" tIns="0" rIns="0" bIns="0" rtlCol="0" anchor="t"/>
          <a:lstStyle/>
          <a:p>
            <a:pPr marL="0" indent="0" algn="l">
              <a:lnSpc>
                <a:spcPts val="1950"/>
              </a:lnSpc>
              <a:buNone/>
            </a:pPr>
            <a:r>
              <a:rPr lang="en-US" sz="1200" dirty="0">
                <a:solidFill>
                  <a:srgbClr val="404155"/>
                </a:solidFill>
                <a:latin typeface="Nobile" pitchFamily="34" charset="0"/>
                <a:ea typeface="Nobile" pitchFamily="34" charset="-122"/>
                <a:cs typeface="Nobile" pitchFamily="34" charset="-120"/>
              </a:rPr>
              <a:t>-</a:t>
            </a:r>
            <a:r>
              <a:rPr lang="en-US" sz="1200" b="1" dirty="0">
                <a:solidFill>
                  <a:srgbClr val="404155"/>
                </a:solidFill>
                <a:latin typeface="Nobile" pitchFamily="34" charset="0"/>
                <a:ea typeface="Nobile" pitchFamily="34" charset="-122"/>
                <a:cs typeface="Nobile" pitchFamily="34" charset="-120"/>
              </a:rPr>
              <a:t>Optimización del proceso de congelación</a:t>
            </a:r>
            <a:endParaRPr lang="en-US" sz="1200" dirty="0"/>
          </a:p>
        </p:txBody>
      </p:sp>
      <p:sp>
        <p:nvSpPr>
          <p:cNvPr id="13" name="Text 8"/>
          <p:cNvSpPr/>
          <p:nvPr/>
        </p:nvSpPr>
        <p:spPr>
          <a:xfrm>
            <a:off x="546140" y="5008840"/>
            <a:ext cx="8051721" cy="249674"/>
          </a:xfrm>
          <a:prstGeom prst="rect">
            <a:avLst/>
          </a:prstGeom>
          <a:noFill/>
          <a:ln/>
        </p:spPr>
        <p:txBody>
          <a:bodyPr wrap="none" lIns="0" tIns="0" rIns="0" bIns="0" rtlCol="0" anchor="t"/>
          <a:lstStyle/>
          <a:p>
            <a:pPr marL="0" indent="0" algn="l">
              <a:lnSpc>
                <a:spcPts val="1950"/>
              </a:lnSpc>
              <a:buNone/>
            </a:pPr>
            <a:r>
              <a:rPr lang="en-US" sz="1200" b="1" dirty="0">
                <a:solidFill>
                  <a:srgbClr val="404155"/>
                </a:solidFill>
                <a:latin typeface="Nobile" pitchFamily="34" charset="0"/>
                <a:ea typeface="Nobile" pitchFamily="34" charset="-122"/>
                <a:cs typeface="Nobile" pitchFamily="34" charset="-120"/>
              </a:rPr>
              <a:t>-Reducción de residuos</a:t>
            </a:r>
            <a:endParaRPr lang="en-US" sz="1200" dirty="0"/>
          </a:p>
        </p:txBody>
      </p:sp>
      <p:pic>
        <p:nvPicPr>
          <p:cNvPr id="14" name="Image 3" descr="preencoded.png"/>
          <p:cNvPicPr>
            <a:picLocks noChangeAspect="1"/>
          </p:cNvPicPr>
          <p:nvPr/>
        </p:nvPicPr>
        <p:blipFill>
          <a:blip r:embed="rId6"/>
          <a:stretch>
            <a:fillRect/>
          </a:stretch>
        </p:blipFill>
        <p:spPr>
          <a:xfrm>
            <a:off x="546140" y="5726668"/>
            <a:ext cx="390168" cy="390168"/>
          </a:xfrm>
          <a:prstGeom prst="rect">
            <a:avLst/>
          </a:prstGeom>
        </p:spPr>
      </p:pic>
      <p:sp>
        <p:nvSpPr>
          <p:cNvPr id="15" name="Text 9"/>
          <p:cNvSpPr/>
          <p:nvPr/>
        </p:nvSpPr>
        <p:spPr>
          <a:xfrm>
            <a:off x="546140" y="6272808"/>
            <a:ext cx="8051721" cy="249674"/>
          </a:xfrm>
          <a:prstGeom prst="rect">
            <a:avLst/>
          </a:prstGeom>
          <a:noFill/>
          <a:ln/>
        </p:spPr>
        <p:txBody>
          <a:bodyPr wrap="none" lIns="0" tIns="0" rIns="0" bIns="0" rtlCol="0" anchor="t"/>
          <a:lstStyle/>
          <a:p>
            <a:pPr marL="0" indent="0" algn="l">
              <a:lnSpc>
                <a:spcPts val="1950"/>
              </a:lnSpc>
              <a:buNone/>
            </a:pPr>
            <a:r>
              <a:rPr lang="en-US" sz="1200" b="1" dirty="0">
                <a:solidFill>
                  <a:srgbClr val="404155"/>
                </a:solidFill>
                <a:latin typeface="Nobile" pitchFamily="34" charset="0"/>
                <a:ea typeface="Nobile" pitchFamily="34" charset="-122"/>
                <a:cs typeface="Nobile" pitchFamily="34" charset="-120"/>
              </a:rPr>
              <a:t>Cultura de sostenibilidad en toda la empresa:</a:t>
            </a:r>
            <a:endParaRPr lang="en-US" sz="1200" dirty="0"/>
          </a:p>
        </p:txBody>
      </p:sp>
      <p:sp>
        <p:nvSpPr>
          <p:cNvPr id="16" name="Text 10"/>
          <p:cNvSpPr/>
          <p:nvPr/>
        </p:nvSpPr>
        <p:spPr>
          <a:xfrm>
            <a:off x="546140" y="6616065"/>
            <a:ext cx="8051721" cy="249674"/>
          </a:xfrm>
          <a:prstGeom prst="rect">
            <a:avLst/>
          </a:prstGeom>
          <a:noFill/>
          <a:ln/>
        </p:spPr>
        <p:txBody>
          <a:bodyPr wrap="none" lIns="0" tIns="0" rIns="0" bIns="0" rtlCol="0" anchor="t"/>
          <a:lstStyle/>
          <a:p>
            <a:pPr marL="0" indent="0" algn="l">
              <a:lnSpc>
                <a:spcPts val="1950"/>
              </a:lnSpc>
              <a:buNone/>
            </a:pPr>
            <a:r>
              <a:rPr lang="en-US" sz="1200" b="1" dirty="0">
                <a:solidFill>
                  <a:srgbClr val="404155"/>
                </a:solidFill>
                <a:latin typeface="Nobile" pitchFamily="34" charset="0"/>
                <a:ea typeface="Nobile" pitchFamily="34" charset="-122"/>
                <a:cs typeface="Nobile" pitchFamily="34" charset="-120"/>
              </a:rPr>
              <a:t>-Capacitación:</a:t>
            </a:r>
            <a:r>
              <a:rPr lang="en-US" sz="1200" dirty="0">
                <a:solidFill>
                  <a:srgbClr val="404155"/>
                </a:solidFill>
                <a:latin typeface="Nobile" pitchFamily="34" charset="0"/>
                <a:ea typeface="Nobile" pitchFamily="34" charset="-122"/>
                <a:cs typeface="Nobile" pitchFamily="34" charset="-120"/>
              </a:rPr>
              <a:t> Capacitar a los empleados en prácticas de eficiencia energética y sostenibilidad.</a:t>
            </a:r>
            <a:endParaRPr lang="en-US" sz="1200" dirty="0"/>
          </a:p>
        </p:txBody>
      </p:sp>
      <p:sp>
        <p:nvSpPr>
          <p:cNvPr id="17" name="Text 11"/>
          <p:cNvSpPr/>
          <p:nvPr/>
        </p:nvSpPr>
        <p:spPr>
          <a:xfrm>
            <a:off x="546140" y="6959322"/>
            <a:ext cx="8051721" cy="499348"/>
          </a:xfrm>
          <a:prstGeom prst="rect">
            <a:avLst/>
          </a:prstGeom>
          <a:noFill/>
          <a:ln/>
        </p:spPr>
        <p:txBody>
          <a:bodyPr wrap="square" lIns="0" tIns="0" rIns="0" bIns="0" rtlCol="0" anchor="t"/>
          <a:lstStyle/>
          <a:p>
            <a:pPr marL="0" indent="0" algn="l">
              <a:lnSpc>
                <a:spcPts val="1950"/>
              </a:lnSpc>
              <a:buNone/>
            </a:pPr>
            <a:r>
              <a:rPr lang="en-US" sz="1200" b="1" dirty="0">
                <a:solidFill>
                  <a:srgbClr val="404155"/>
                </a:solidFill>
                <a:latin typeface="Nobile" pitchFamily="34" charset="0"/>
                <a:ea typeface="Nobile" pitchFamily="34" charset="-122"/>
                <a:cs typeface="Nobile" pitchFamily="34" charset="-120"/>
              </a:rPr>
              <a:t>-Certificaciones:</a:t>
            </a:r>
            <a:r>
              <a:rPr lang="en-US" sz="1200" dirty="0">
                <a:solidFill>
                  <a:srgbClr val="404155"/>
                </a:solidFill>
                <a:latin typeface="Nobile" pitchFamily="34" charset="0"/>
                <a:ea typeface="Nobile" pitchFamily="34" charset="-122"/>
                <a:cs typeface="Nobile" pitchFamily="34" charset="-120"/>
              </a:rPr>
              <a:t> Buscar certificaciones de sostenibilidad que reconozcan las prácticas responsables de Grupo Pinsa.</a:t>
            </a:r>
            <a:endParaRPr lang="en-US" sz="1200" dirty="0"/>
          </a:p>
        </p:txBody>
      </p:sp>
      <p:sp>
        <p:nvSpPr>
          <p:cNvPr id="18" name="Text 12"/>
          <p:cNvSpPr/>
          <p:nvPr/>
        </p:nvSpPr>
        <p:spPr>
          <a:xfrm>
            <a:off x="546140" y="7552253"/>
            <a:ext cx="8051721" cy="249674"/>
          </a:xfrm>
          <a:prstGeom prst="rect">
            <a:avLst/>
          </a:prstGeom>
          <a:noFill/>
          <a:ln/>
        </p:spPr>
        <p:txBody>
          <a:bodyPr wrap="none" lIns="0" tIns="0" rIns="0" bIns="0" rtlCol="0" anchor="t"/>
          <a:lstStyle/>
          <a:p>
            <a:pPr marL="0" indent="0" algn="l">
              <a:lnSpc>
                <a:spcPts val="1950"/>
              </a:lnSpc>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6027" y="468273"/>
            <a:ext cx="4257794" cy="532209"/>
          </a:xfrm>
          <a:prstGeom prst="rect">
            <a:avLst/>
          </a:prstGeom>
          <a:noFill/>
          <a:ln/>
        </p:spPr>
        <p:txBody>
          <a:bodyPr wrap="none" lIns="0" tIns="0" rIns="0" bIns="0" rtlCol="0" anchor="t"/>
          <a:lstStyle/>
          <a:p>
            <a:pPr marL="0" indent="0">
              <a:lnSpc>
                <a:spcPts val="4150"/>
              </a:lnSpc>
              <a:buNone/>
            </a:pPr>
            <a:r>
              <a:rPr lang="en-US" sz="3350" dirty="0">
                <a:solidFill>
                  <a:srgbClr val="1B1B27"/>
                </a:solidFill>
                <a:latin typeface="Alexandria" pitchFamily="34" charset="0"/>
                <a:ea typeface="Alexandria" pitchFamily="34" charset="-122"/>
                <a:cs typeface="Alexandria" pitchFamily="34" charset="-120"/>
              </a:rPr>
              <a:t>Simulador</a:t>
            </a:r>
            <a:endParaRPr lang="en-US" sz="3350" dirty="0"/>
          </a:p>
        </p:txBody>
      </p:sp>
      <p:sp>
        <p:nvSpPr>
          <p:cNvPr id="3" name="Text 1"/>
          <p:cNvSpPr/>
          <p:nvPr/>
        </p:nvSpPr>
        <p:spPr>
          <a:xfrm>
            <a:off x="596027" y="1341001"/>
            <a:ext cx="13438346" cy="544830"/>
          </a:xfrm>
          <a:prstGeom prst="rect">
            <a:avLst/>
          </a:prstGeom>
          <a:noFill/>
          <a:ln/>
        </p:spPr>
        <p:txBody>
          <a:bodyPr wrap="square" lIns="0" tIns="0" rIns="0" bIns="0" rtlCol="0" anchor="t"/>
          <a:lstStyle/>
          <a:p>
            <a:pPr marL="0" indent="0">
              <a:lnSpc>
                <a:spcPts val="2100"/>
              </a:lnSpc>
              <a:buNone/>
            </a:pPr>
            <a:r>
              <a:rPr lang="en-US" sz="1600" dirty="0">
                <a:solidFill>
                  <a:srgbClr val="404155"/>
                </a:solidFill>
                <a:latin typeface="Nobile" pitchFamily="34" charset="0"/>
                <a:ea typeface="Nobile" pitchFamily="34" charset="-122"/>
                <a:cs typeface="Nobile" pitchFamily="34" charset="-120"/>
              </a:rPr>
              <a:t>En la siguiente información mostraremos los detalles del cisco Packet Tracer donde realizamos la simulación para que Pinsa implemente lo aprendido en la investigación, tanto en la planta de congelados como en sus barcos pesqueros.</a:t>
            </a:r>
            <a:endParaRPr lang="en-US" sz="1600" dirty="0"/>
          </a:p>
        </p:txBody>
      </p:sp>
      <p:pic>
        <p:nvPicPr>
          <p:cNvPr id="4" name="Image 0" descr="preencoded.png"/>
          <p:cNvPicPr>
            <a:picLocks noChangeAspect="1"/>
          </p:cNvPicPr>
          <p:nvPr/>
        </p:nvPicPr>
        <p:blipFill>
          <a:blip r:embed="rId3"/>
          <a:stretch>
            <a:fillRect/>
          </a:stretch>
        </p:blipFill>
        <p:spPr>
          <a:xfrm>
            <a:off x="1341001" y="2076331"/>
            <a:ext cx="11948398" cy="6039833"/>
          </a:xfrm>
          <a:prstGeom prst="rect">
            <a:avLst/>
          </a:prstGeom>
        </p:spPr>
      </p:pic>
      <p:sp>
        <p:nvSpPr>
          <p:cNvPr id="5" name="Rectángulo 4">
            <a:extLst>
              <a:ext uri="{FF2B5EF4-FFF2-40B4-BE49-F238E27FC236}">
                <a16:creationId xmlns:a16="http://schemas.microsoft.com/office/drawing/2014/main" id="{31C40FDA-10D6-CD25-AFB3-242055DC5781}"/>
              </a:ext>
            </a:extLst>
          </p:cNvPr>
          <p:cNvSpPr/>
          <p:nvPr/>
        </p:nvSpPr>
        <p:spPr>
          <a:xfrm>
            <a:off x="13289399" y="7391400"/>
            <a:ext cx="1341001" cy="83820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397490" y="2625090"/>
            <a:ext cx="2979420" cy="2979420"/>
          </a:xfrm>
          <a:prstGeom prst="rect">
            <a:avLst/>
          </a:prstGeom>
        </p:spPr>
      </p:pic>
      <p:sp>
        <p:nvSpPr>
          <p:cNvPr id="3" name="Text 0"/>
          <p:cNvSpPr/>
          <p:nvPr/>
        </p:nvSpPr>
        <p:spPr>
          <a:xfrm>
            <a:off x="723305" y="1012508"/>
            <a:ext cx="7428428" cy="645914"/>
          </a:xfrm>
          <a:prstGeom prst="rect">
            <a:avLst/>
          </a:prstGeom>
          <a:noFill/>
          <a:ln/>
        </p:spPr>
        <p:txBody>
          <a:bodyPr wrap="none" lIns="0" tIns="0" rIns="0" bIns="0" rtlCol="0" anchor="t"/>
          <a:lstStyle/>
          <a:p>
            <a:pPr marL="0" indent="0">
              <a:lnSpc>
                <a:spcPts val="5050"/>
              </a:lnSpc>
              <a:buNone/>
            </a:pPr>
            <a:r>
              <a:rPr lang="en-US" sz="4050" dirty="0">
                <a:solidFill>
                  <a:srgbClr val="1B1B27"/>
                </a:solidFill>
                <a:latin typeface="Alexandria" pitchFamily="34" charset="0"/>
                <a:ea typeface="Alexandria" pitchFamily="34" charset="-122"/>
                <a:cs typeface="Alexandria" pitchFamily="34" charset="-120"/>
              </a:rPr>
              <a:t>Beneficios para Grupo PINSA</a:t>
            </a:r>
            <a:endParaRPr lang="en-US" sz="4050" dirty="0"/>
          </a:p>
        </p:txBody>
      </p:sp>
      <p:sp>
        <p:nvSpPr>
          <p:cNvPr id="4" name="Text 1"/>
          <p:cNvSpPr/>
          <p:nvPr/>
        </p:nvSpPr>
        <p:spPr>
          <a:xfrm>
            <a:off x="723305" y="1968341"/>
            <a:ext cx="7697391" cy="991910"/>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404155"/>
                </a:solidFill>
                <a:latin typeface="Nobile" pitchFamily="34" charset="0"/>
                <a:ea typeface="Nobile" pitchFamily="34" charset="-122"/>
                <a:cs typeface="Nobile" pitchFamily="34" charset="-120"/>
              </a:rPr>
              <a:t>Reducción de la Huella de Carbono:</a:t>
            </a:r>
            <a:r>
              <a:rPr lang="en-US" sz="1600" dirty="0">
                <a:solidFill>
                  <a:srgbClr val="404155"/>
                </a:solidFill>
                <a:latin typeface="Nobile" pitchFamily="34" charset="0"/>
                <a:ea typeface="Nobile" pitchFamily="34" charset="-122"/>
                <a:cs typeface="Nobile" pitchFamily="34" charset="-120"/>
              </a:rPr>
              <a:t> La implementación de tecnologías limpias y la optimización de procesos contribuyen a la reducción de la huella de carbono de Grupo PINSA, disminuyendo su impacto ambiental.</a:t>
            </a:r>
            <a:endParaRPr lang="en-US" sz="1600" dirty="0"/>
          </a:p>
        </p:txBody>
      </p:sp>
      <p:sp>
        <p:nvSpPr>
          <p:cNvPr id="5" name="Text 2"/>
          <p:cNvSpPr/>
          <p:nvPr/>
        </p:nvSpPr>
        <p:spPr>
          <a:xfrm>
            <a:off x="723305" y="3032522"/>
            <a:ext cx="7697391" cy="991910"/>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404155"/>
                </a:solidFill>
                <a:latin typeface="Nobile" pitchFamily="34" charset="0"/>
                <a:ea typeface="Nobile" pitchFamily="34" charset="-122"/>
                <a:cs typeface="Nobile" pitchFamily="34" charset="-120"/>
              </a:rPr>
              <a:t>Ahorro Económico:</a:t>
            </a:r>
            <a:r>
              <a:rPr lang="en-US" sz="1600" dirty="0">
                <a:solidFill>
                  <a:srgbClr val="404155"/>
                </a:solidFill>
                <a:latin typeface="Nobile" pitchFamily="34" charset="0"/>
                <a:ea typeface="Nobile" pitchFamily="34" charset="-122"/>
                <a:cs typeface="Nobile" pitchFamily="34" charset="-120"/>
              </a:rPr>
              <a:t> La eficiencia energética y la reducción de consumo de combustible generan ahorros económicos significativos para la empresa.</a:t>
            </a:r>
            <a:endParaRPr lang="en-US" sz="1600" dirty="0"/>
          </a:p>
        </p:txBody>
      </p:sp>
      <p:sp>
        <p:nvSpPr>
          <p:cNvPr id="6" name="Text 3"/>
          <p:cNvSpPr/>
          <p:nvPr/>
        </p:nvSpPr>
        <p:spPr>
          <a:xfrm>
            <a:off x="723305" y="4096703"/>
            <a:ext cx="7697391" cy="991910"/>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404155"/>
                </a:solidFill>
                <a:latin typeface="Nobile" pitchFamily="34" charset="0"/>
                <a:ea typeface="Nobile" pitchFamily="34" charset="-122"/>
                <a:cs typeface="Nobile" pitchFamily="34" charset="-120"/>
              </a:rPr>
              <a:t>Mejora de la Eficiencia Operativa:</a:t>
            </a:r>
            <a:r>
              <a:rPr lang="en-US" sz="1600" dirty="0">
                <a:solidFill>
                  <a:srgbClr val="404155"/>
                </a:solidFill>
                <a:latin typeface="Nobile" pitchFamily="34" charset="0"/>
                <a:ea typeface="Nobile" pitchFamily="34" charset="-122"/>
                <a:cs typeface="Nobile" pitchFamily="34" charset="-120"/>
              </a:rPr>
              <a:t> La gestión inteligente de la energía y la optimización de procesos mejoran la eficiencia operativa de Grupo PINSA en toda la cadena de producción.</a:t>
            </a:r>
            <a:endParaRPr lang="en-US" sz="1600" dirty="0"/>
          </a:p>
        </p:txBody>
      </p:sp>
      <p:sp>
        <p:nvSpPr>
          <p:cNvPr id="7" name="Text 4"/>
          <p:cNvSpPr/>
          <p:nvPr/>
        </p:nvSpPr>
        <p:spPr>
          <a:xfrm>
            <a:off x="723305" y="5160883"/>
            <a:ext cx="7697391" cy="991910"/>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404155"/>
                </a:solidFill>
                <a:latin typeface="Nobile" pitchFamily="34" charset="0"/>
                <a:ea typeface="Nobile" pitchFamily="34" charset="-122"/>
                <a:cs typeface="Nobile" pitchFamily="34" charset="-120"/>
              </a:rPr>
              <a:t>Fortalecimiento de la Imagen Corporativa:</a:t>
            </a:r>
            <a:r>
              <a:rPr lang="en-US" sz="1600" dirty="0">
                <a:solidFill>
                  <a:srgbClr val="404155"/>
                </a:solidFill>
                <a:latin typeface="Nobile" pitchFamily="34" charset="0"/>
                <a:ea typeface="Nobile" pitchFamily="34" charset="-122"/>
                <a:cs typeface="Nobile" pitchFamily="34" charset="-120"/>
              </a:rPr>
              <a:t> La adopción de prácticas sostenibles fortalece la imagen de Grupo PINSA como una empresa responsable y comprometida con el medio ambiente.</a:t>
            </a:r>
            <a:endParaRPr lang="en-US" sz="1600" dirty="0"/>
          </a:p>
        </p:txBody>
      </p:sp>
      <p:sp>
        <p:nvSpPr>
          <p:cNvPr id="8" name="Text 5"/>
          <p:cNvSpPr/>
          <p:nvPr/>
        </p:nvSpPr>
        <p:spPr>
          <a:xfrm>
            <a:off x="723305" y="6225064"/>
            <a:ext cx="7697391" cy="991910"/>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404155"/>
                </a:solidFill>
                <a:latin typeface="Nobile" pitchFamily="34" charset="0"/>
                <a:ea typeface="Nobile" pitchFamily="34" charset="-122"/>
                <a:cs typeface="Nobile" pitchFamily="34" charset="-120"/>
              </a:rPr>
              <a:t>Conservación de los Recursos Marinos:</a:t>
            </a:r>
            <a:r>
              <a:rPr lang="en-US" sz="1600" dirty="0">
                <a:solidFill>
                  <a:srgbClr val="404155"/>
                </a:solidFill>
                <a:latin typeface="Nobile" pitchFamily="34" charset="0"/>
                <a:ea typeface="Nobile" pitchFamily="34" charset="-122"/>
                <a:cs typeface="Nobile" pitchFamily="34" charset="-120"/>
              </a:rPr>
              <a:t> Las prácticas de pesca sostenible y la protección de la biodiversidad marina contribuyen a la conservación de los recursos marinos para las futuras generaciones.</a:t>
            </a:r>
            <a:endParaRPr lang="en-US" sz="1600" dirty="0"/>
          </a:p>
        </p:txBody>
      </p:sp>
      <p:sp>
        <p:nvSpPr>
          <p:cNvPr id="9" name="Rectángulo 8">
            <a:extLst>
              <a:ext uri="{FF2B5EF4-FFF2-40B4-BE49-F238E27FC236}">
                <a16:creationId xmlns:a16="http://schemas.microsoft.com/office/drawing/2014/main" id="{A5D231FE-6472-E83E-2938-18A38E7D1EEC}"/>
              </a:ext>
            </a:extLst>
          </p:cNvPr>
          <p:cNvSpPr/>
          <p:nvPr/>
        </p:nvSpPr>
        <p:spPr>
          <a:xfrm>
            <a:off x="12715875" y="7391400"/>
            <a:ext cx="1914525" cy="83820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01622"/>
            <a:ext cx="5670590"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Alexandria" pitchFamily="34" charset="0"/>
                <a:ea typeface="Alexandria" pitchFamily="34" charset="-122"/>
                <a:cs typeface="Alexandria" pitchFamily="34" charset="-120"/>
              </a:rPr>
              <a:t>Conclusión</a:t>
            </a:r>
            <a:endParaRPr lang="en-US" sz="4450" dirty="0"/>
          </a:p>
        </p:txBody>
      </p:sp>
      <p:sp>
        <p:nvSpPr>
          <p:cNvPr id="4" name="Text 1"/>
          <p:cNvSpPr/>
          <p:nvPr/>
        </p:nvSpPr>
        <p:spPr>
          <a:xfrm>
            <a:off x="6280190" y="3550563"/>
            <a:ext cx="7556421" cy="2177415"/>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El proyecto ofrece un aprendizaje significativo sobre la importancia de integrar prácticas responsables en la industria atunera. A través de la implementación de tecnologías de eficiencia energética y la adaptación de las mejores prácticas de gigantes tecnológicos como Google, Facebook y Amazon, Grupo PINSA puede lograr beneficios significativos tanto a nivel ambiental como económico.</a:t>
            </a:r>
            <a:endParaRPr lang="en-US" sz="1750" dirty="0"/>
          </a:p>
        </p:txBody>
      </p:sp>
      <p:sp>
        <p:nvSpPr>
          <p:cNvPr id="5" name="Rectángulo 4">
            <a:extLst>
              <a:ext uri="{FF2B5EF4-FFF2-40B4-BE49-F238E27FC236}">
                <a16:creationId xmlns:a16="http://schemas.microsoft.com/office/drawing/2014/main" id="{579C8D46-C01A-95B5-C397-636971269BBB}"/>
              </a:ext>
            </a:extLst>
          </p:cNvPr>
          <p:cNvSpPr/>
          <p:nvPr/>
        </p:nvSpPr>
        <p:spPr>
          <a:xfrm>
            <a:off x="12715875" y="7391400"/>
            <a:ext cx="1914525" cy="838200"/>
          </a:xfrm>
          <a:prstGeom prst="rect">
            <a:avLst/>
          </a:prstGeom>
          <a:solidFill>
            <a:srgbClr val="F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864</Words>
  <Application>Microsoft Office PowerPoint</Application>
  <PresentationFormat>Personalizado</PresentationFormat>
  <Paragraphs>74</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Nobile</vt:lpstr>
      <vt:lpstr>Alexandria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SERGIO JESUS GALINDO MELENDREZ</cp:lastModifiedBy>
  <cp:revision>2</cp:revision>
  <dcterms:created xsi:type="dcterms:W3CDTF">2024-12-12T21:25:12Z</dcterms:created>
  <dcterms:modified xsi:type="dcterms:W3CDTF">2024-12-12T21:26:28Z</dcterms:modified>
</cp:coreProperties>
</file>