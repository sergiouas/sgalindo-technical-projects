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Alexandria"/>
      <p:regular r:id="rId17"/>
    </p:embeddedFont>
    <p:embeddedFont>
      <p:font typeface="Alexandria"/>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C73E6"/>
          </a:solidFill>
          <a:ln/>
        </p:spPr>
      </p:sp>
      <p:sp>
        <p:nvSpPr>
          <p:cNvPr id="3" name="Shape 1"/>
          <p:cNvSpPr/>
          <p:nvPr/>
        </p:nvSpPr>
        <p:spPr>
          <a:xfrm>
            <a:off x="0" y="0"/>
            <a:ext cx="14630400" cy="8229600"/>
          </a:xfrm>
          <a:prstGeom prst="rect">
            <a:avLst/>
          </a:prstGeom>
          <a:solidFill>
            <a:srgbClr val="F9F9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92348"/>
            <a:ext cx="7556421" cy="1700927"/>
          </a:xfrm>
          <a:prstGeom prst="rect">
            <a:avLst/>
          </a:prstGeom>
          <a:noFill/>
          <a:ln/>
        </p:spPr>
        <p:txBody>
          <a:bodyPr wrap="square" lIns="0" tIns="0" rIns="0" bIns="0" rtlCol="0" anchor="t"/>
          <a:lstStyle/>
          <a:p>
            <a:pPr indent="0" marL="0">
              <a:lnSpc>
                <a:spcPts val="4450"/>
              </a:lnSpc>
              <a:buNone/>
            </a:pPr>
            <a:r>
              <a:rPr lang="en-US" sz="3550" dirty="0">
                <a:solidFill>
                  <a:srgbClr val="1B1B27"/>
                </a:solidFill>
                <a:latin typeface="Alexandria" pitchFamily="34" charset="0"/>
                <a:ea typeface="Alexandria" pitchFamily="34" charset="-122"/>
                <a:cs typeface="Alexandria" pitchFamily="34" charset="-120"/>
              </a:rPr>
              <a:t>Grupo PINSA Mazatlán: Impulsando la Sostenibilidad en la Industria Atunera</a:t>
            </a:r>
            <a:endParaRPr lang="en-US" sz="3550" dirty="0"/>
          </a:p>
        </p:txBody>
      </p:sp>
      <p:sp>
        <p:nvSpPr>
          <p:cNvPr id="4" name="Text 1"/>
          <p:cNvSpPr/>
          <p:nvPr/>
        </p:nvSpPr>
        <p:spPr>
          <a:xfrm>
            <a:off x="6280190" y="4548426"/>
            <a:ext cx="7556421" cy="1088708"/>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Este proyecto busca integrar prácticas sustentables en la industria atunera de PINSA, utilizando tecnología para reducir el impacto ambiental.</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25485"/>
            <a:ext cx="5670590" cy="708779"/>
          </a:xfrm>
          <a:prstGeom prst="rect">
            <a:avLst/>
          </a:prstGeom>
          <a:noFill/>
          <a:ln/>
        </p:spPr>
        <p:txBody>
          <a:bodyPr wrap="none" lIns="0" tIns="0" rIns="0" bIns="0" rtlCol="0" anchor="t"/>
          <a:lstStyle/>
          <a:p>
            <a:pP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¿Quiénes somos?</a:t>
            </a:r>
            <a:endParaRPr lang="en-US" sz="4450" dirty="0"/>
          </a:p>
        </p:txBody>
      </p:sp>
      <p:sp>
        <p:nvSpPr>
          <p:cNvPr id="4" name="Text 1"/>
          <p:cNvSpPr/>
          <p:nvPr/>
        </p:nvSpPr>
        <p:spPr>
          <a:xfrm>
            <a:off x="793790" y="230124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Presencia</a:t>
            </a:r>
            <a:endParaRPr lang="en-US" sz="2200" dirty="0"/>
          </a:p>
        </p:txBody>
      </p:sp>
      <p:sp>
        <p:nvSpPr>
          <p:cNvPr id="5" name="Text 2"/>
          <p:cNvSpPr/>
          <p:nvPr/>
        </p:nvSpPr>
        <p:spPr>
          <a:xfrm>
            <a:off x="793790" y="2882384"/>
            <a:ext cx="3502223" cy="1814513"/>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PINSA Mazatlán, con más de 30 años en el mercado nacional e internacional, distribuye atún y sardina en conserva y productos congelados.</a:t>
            </a:r>
            <a:endParaRPr lang="en-US" sz="1750" dirty="0"/>
          </a:p>
        </p:txBody>
      </p:sp>
      <p:sp>
        <p:nvSpPr>
          <p:cNvPr id="6" name="Text 3"/>
          <p:cNvSpPr/>
          <p:nvPr/>
        </p:nvSpPr>
        <p:spPr>
          <a:xfrm>
            <a:off x="4857036" y="230124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1B1B27"/>
                </a:solidFill>
                <a:latin typeface="Alexandria" pitchFamily="34" charset="0"/>
                <a:ea typeface="Alexandria" pitchFamily="34" charset="-122"/>
                <a:cs typeface="Alexandria" pitchFamily="34" charset="-120"/>
              </a:rPr>
              <a:t>Misión</a:t>
            </a:r>
            <a:endParaRPr lang="en-US" sz="2200" dirty="0"/>
          </a:p>
        </p:txBody>
      </p:sp>
      <p:sp>
        <p:nvSpPr>
          <p:cNvPr id="7" name="Text 4"/>
          <p:cNvSpPr/>
          <p:nvPr/>
        </p:nvSpPr>
        <p:spPr>
          <a:xfrm>
            <a:off x="4857036" y="2882384"/>
            <a:ext cx="3500676" cy="1814513"/>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Producir y comercializar con pasión y liderazgo, alimentos del mar innovadores y de alta calidad, que enriquezcan la alimentación de la población.</a:t>
            </a:r>
            <a:endParaRPr lang="en-US" sz="1750" dirty="0"/>
          </a:p>
        </p:txBody>
      </p:sp>
      <p:sp>
        <p:nvSpPr>
          <p:cNvPr id="8" name="Shape 5"/>
          <p:cNvSpPr/>
          <p:nvPr/>
        </p:nvSpPr>
        <p:spPr>
          <a:xfrm>
            <a:off x="793790" y="5156121"/>
            <a:ext cx="7556421" cy="2047994"/>
          </a:xfrm>
          <a:prstGeom prst="roundRect">
            <a:avLst>
              <a:gd name="adj" fmla="val 4652"/>
            </a:avLst>
          </a:prstGeom>
          <a:solidFill>
            <a:srgbClr val="F9F9FF"/>
          </a:solidFill>
          <a:ln w="7620">
            <a:solidFill>
              <a:srgbClr val="DFDFE5"/>
            </a:solidFill>
            <a:prstDash val="solid"/>
          </a:ln>
        </p:spPr>
      </p:sp>
      <p:sp>
        <p:nvSpPr>
          <p:cNvPr id="9" name="Text 6"/>
          <p:cNvSpPr/>
          <p:nvPr/>
        </p:nvSpPr>
        <p:spPr>
          <a:xfrm>
            <a:off x="1028224" y="539055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000000"/>
                </a:solidFill>
                <a:latin typeface="Alexandria" pitchFamily="34" charset="0"/>
                <a:ea typeface="Alexandria" pitchFamily="34" charset="-122"/>
                <a:cs typeface="Alexandria" pitchFamily="34" charset="-120"/>
              </a:rPr>
              <a:t>Visión</a:t>
            </a:r>
            <a:endParaRPr lang="en-US" sz="2200" dirty="0"/>
          </a:p>
        </p:txBody>
      </p:sp>
      <p:sp>
        <p:nvSpPr>
          <p:cNvPr id="10" name="Text 7"/>
          <p:cNvSpPr/>
          <p:nvPr/>
        </p:nvSpPr>
        <p:spPr>
          <a:xfrm>
            <a:off x="1028224" y="5880973"/>
            <a:ext cx="7087553" cy="1088708"/>
          </a:xfrm>
          <a:prstGeom prst="rect">
            <a:avLst/>
          </a:prstGeom>
          <a:noFill/>
          <a:ln/>
        </p:spPr>
        <p:txBody>
          <a:bodyPr wrap="square" lIns="0" tIns="0" rIns="0" bIns="0" rtlCol="0" anchor="t"/>
          <a:lstStyle/>
          <a:p>
            <a:pPr indent="0" marL="0">
              <a:lnSpc>
                <a:spcPts val="2850"/>
              </a:lnSpc>
              <a:buNone/>
            </a:pPr>
            <a:r>
              <a:rPr lang="en-US" sz="1750" dirty="0">
                <a:solidFill>
                  <a:srgbClr val="000000"/>
                </a:solidFill>
                <a:latin typeface="Nobile" pitchFamily="34" charset="0"/>
                <a:ea typeface="Nobile" pitchFamily="34" charset="-122"/>
                <a:cs typeface="Nobile" pitchFamily="34" charset="-120"/>
              </a:rPr>
              <a:t>Ser líderes globales en productos del mar, consolidándonos como una empresa altamente rentable, respaldada por el compromiso y confianza de su gente.</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651159"/>
            <a:ext cx="7556421" cy="1417558"/>
          </a:xfrm>
          <a:prstGeom prst="rect">
            <a:avLst/>
          </a:prstGeom>
          <a:noFill/>
          <a:ln/>
        </p:spPr>
        <p:txBody>
          <a:bodyPr wrap="square" lIns="0" tIns="0" rIns="0" bIns="0" rtlCol="0" anchor="t"/>
          <a:lstStyle/>
          <a:p>
            <a:pP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Problemática: Impacto ambiental</a:t>
            </a:r>
            <a:endParaRPr lang="en-US" sz="4450" dirty="0"/>
          </a:p>
        </p:txBody>
      </p:sp>
      <p:sp>
        <p:nvSpPr>
          <p:cNvPr id="4" name="Shape 1"/>
          <p:cNvSpPr/>
          <p:nvPr/>
        </p:nvSpPr>
        <p:spPr>
          <a:xfrm>
            <a:off x="6280190" y="3664029"/>
            <a:ext cx="396835" cy="396835"/>
          </a:xfrm>
          <a:prstGeom prst="roundRect">
            <a:avLst>
              <a:gd name="adj" fmla="val 24007"/>
            </a:avLst>
          </a:prstGeom>
          <a:solidFill>
            <a:srgbClr val="D2DDF9"/>
          </a:solidFill>
          <a:ln w="7620">
            <a:solidFill>
              <a:srgbClr val="B8C3DF"/>
            </a:solidFill>
            <a:prstDash val="solid"/>
          </a:ln>
        </p:spPr>
      </p:sp>
      <p:sp>
        <p:nvSpPr>
          <p:cNvPr id="5" name="Text 2"/>
          <p:cNvSpPr/>
          <p:nvPr/>
        </p:nvSpPr>
        <p:spPr>
          <a:xfrm>
            <a:off x="6903839" y="3664029"/>
            <a:ext cx="2835235" cy="354330"/>
          </a:xfrm>
          <a:prstGeom prst="rect">
            <a:avLst/>
          </a:prstGeom>
          <a:noFill/>
          <a:ln/>
        </p:spPr>
        <p:txBody>
          <a:bodyPr wrap="none" lIns="0" tIns="0" rIns="0" bIns="0" rtlCol="0" anchor="t"/>
          <a:lstStyle/>
          <a:p>
            <a:pPr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Desafío</a:t>
            </a:r>
            <a:endParaRPr lang="en-US" sz="2200" dirty="0"/>
          </a:p>
        </p:txBody>
      </p:sp>
      <p:sp>
        <p:nvSpPr>
          <p:cNvPr id="6" name="Text 3"/>
          <p:cNvSpPr/>
          <p:nvPr/>
        </p:nvSpPr>
        <p:spPr>
          <a:xfrm>
            <a:off x="6903839" y="4154448"/>
            <a:ext cx="3041213" cy="1088708"/>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Implementar una infraestructura informática eficiente y sostenible.</a:t>
            </a:r>
            <a:endParaRPr lang="en-US" sz="1750" dirty="0"/>
          </a:p>
        </p:txBody>
      </p:sp>
      <p:sp>
        <p:nvSpPr>
          <p:cNvPr id="7" name="Shape 4"/>
          <p:cNvSpPr/>
          <p:nvPr/>
        </p:nvSpPr>
        <p:spPr>
          <a:xfrm>
            <a:off x="10171867" y="3664029"/>
            <a:ext cx="396835" cy="396835"/>
          </a:xfrm>
          <a:prstGeom prst="roundRect">
            <a:avLst>
              <a:gd name="adj" fmla="val 24007"/>
            </a:avLst>
          </a:prstGeom>
          <a:solidFill>
            <a:srgbClr val="D2DDF9"/>
          </a:solidFill>
          <a:ln w="7620">
            <a:solidFill>
              <a:srgbClr val="B8C3DF"/>
            </a:solidFill>
            <a:prstDash val="solid"/>
          </a:ln>
        </p:spPr>
      </p:sp>
      <p:sp>
        <p:nvSpPr>
          <p:cNvPr id="8" name="Text 5"/>
          <p:cNvSpPr/>
          <p:nvPr/>
        </p:nvSpPr>
        <p:spPr>
          <a:xfrm>
            <a:off x="10795516" y="3664029"/>
            <a:ext cx="2835235" cy="354330"/>
          </a:xfrm>
          <a:prstGeom prst="rect">
            <a:avLst/>
          </a:prstGeom>
          <a:noFill/>
          <a:ln/>
        </p:spPr>
        <p:txBody>
          <a:bodyPr wrap="none" lIns="0" tIns="0" rIns="0" bIns="0" rtlCol="0" anchor="t"/>
          <a:lstStyle/>
          <a:p>
            <a:pPr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Objetivo</a:t>
            </a:r>
            <a:endParaRPr lang="en-US" sz="2200" dirty="0"/>
          </a:p>
        </p:txBody>
      </p:sp>
      <p:sp>
        <p:nvSpPr>
          <p:cNvPr id="9" name="Text 6"/>
          <p:cNvSpPr/>
          <p:nvPr/>
        </p:nvSpPr>
        <p:spPr>
          <a:xfrm>
            <a:off x="10795516" y="4154448"/>
            <a:ext cx="3041213" cy="1088708"/>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Reducir el consumo de energía y recursos naturales.</a:t>
            </a:r>
            <a:endParaRPr lang="en-US" sz="1750" dirty="0"/>
          </a:p>
        </p:txBody>
      </p:sp>
      <p:sp>
        <p:nvSpPr>
          <p:cNvPr id="10" name="Shape 7"/>
          <p:cNvSpPr/>
          <p:nvPr/>
        </p:nvSpPr>
        <p:spPr>
          <a:xfrm>
            <a:off x="6280190" y="5725120"/>
            <a:ext cx="396835" cy="396835"/>
          </a:xfrm>
          <a:prstGeom prst="roundRect">
            <a:avLst>
              <a:gd name="adj" fmla="val 24007"/>
            </a:avLst>
          </a:prstGeom>
          <a:solidFill>
            <a:srgbClr val="D2DDF9"/>
          </a:solidFill>
          <a:ln w="7620">
            <a:solidFill>
              <a:srgbClr val="B8C3DF"/>
            </a:solidFill>
            <a:prstDash val="solid"/>
          </a:ln>
        </p:spPr>
      </p:sp>
      <p:sp>
        <p:nvSpPr>
          <p:cNvPr id="11" name="Text 8"/>
          <p:cNvSpPr/>
          <p:nvPr/>
        </p:nvSpPr>
        <p:spPr>
          <a:xfrm>
            <a:off x="6903839" y="5725120"/>
            <a:ext cx="2835235" cy="354330"/>
          </a:xfrm>
          <a:prstGeom prst="rect">
            <a:avLst/>
          </a:prstGeom>
          <a:noFill/>
          <a:ln/>
        </p:spPr>
        <p:txBody>
          <a:bodyPr wrap="none" lIns="0" tIns="0" rIns="0" bIns="0" rtlCol="0" anchor="t"/>
          <a:lstStyle/>
          <a:p>
            <a:pPr indent="0" marL="0">
              <a:lnSpc>
                <a:spcPts val="2750"/>
              </a:lnSpc>
              <a:buNone/>
            </a:pPr>
            <a:r>
              <a:rPr lang="en-US" sz="2200" dirty="0">
                <a:solidFill>
                  <a:srgbClr val="404155"/>
                </a:solidFill>
                <a:latin typeface="Alexandria" pitchFamily="34" charset="0"/>
                <a:ea typeface="Alexandria" pitchFamily="34" charset="-122"/>
                <a:cs typeface="Alexandria" pitchFamily="34" charset="-120"/>
              </a:rPr>
              <a:t>Prioridad</a:t>
            </a:r>
            <a:endParaRPr lang="en-US" sz="2200" dirty="0"/>
          </a:p>
        </p:txBody>
      </p:sp>
      <p:sp>
        <p:nvSpPr>
          <p:cNvPr id="12" name="Text 9"/>
          <p:cNvSpPr/>
          <p:nvPr/>
        </p:nvSpPr>
        <p:spPr>
          <a:xfrm>
            <a:off x="6903839" y="6215539"/>
            <a:ext cx="6932771" cy="362903"/>
          </a:xfrm>
          <a:prstGeom prst="rect">
            <a:avLst/>
          </a:prstGeom>
          <a:noFill/>
          <a:ln/>
        </p:spPr>
        <p:txBody>
          <a:bodyPr wrap="non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Promover la conciencia ambiental y la responsabilidad social.</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10565" y="883444"/>
            <a:ext cx="7722870" cy="1268730"/>
          </a:xfrm>
          <a:prstGeom prst="rect">
            <a:avLst/>
          </a:prstGeom>
          <a:noFill/>
          <a:ln/>
        </p:spPr>
        <p:txBody>
          <a:bodyPr wrap="square" lIns="0" tIns="0" rIns="0" bIns="0" rtlCol="0" anchor="t"/>
          <a:lstStyle/>
          <a:p>
            <a:pPr indent="0" marL="0">
              <a:lnSpc>
                <a:spcPts val="4950"/>
              </a:lnSpc>
              <a:buNone/>
            </a:pPr>
            <a:r>
              <a:rPr lang="en-US" sz="3950" dirty="0">
                <a:solidFill>
                  <a:srgbClr val="1B1B27"/>
                </a:solidFill>
                <a:latin typeface="Alexandria" pitchFamily="34" charset="0"/>
                <a:ea typeface="Alexandria" pitchFamily="34" charset="-122"/>
                <a:cs typeface="Alexandria" pitchFamily="34" charset="-120"/>
              </a:rPr>
              <a:t>Solución: Hacia la Sustentabilidad</a:t>
            </a:r>
            <a:endParaRPr lang="en-US" sz="3950" dirty="0"/>
          </a:p>
        </p:txBody>
      </p:sp>
      <p:sp>
        <p:nvSpPr>
          <p:cNvPr id="4" name="Shape 1"/>
          <p:cNvSpPr/>
          <p:nvPr/>
        </p:nvSpPr>
        <p:spPr>
          <a:xfrm>
            <a:off x="1003578" y="2456617"/>
            <a:ext cx="22860" cy="4889421"/>
          </a:xfrm>
          <a:prstGeom prst="roundRect">
            <a:avLst>
              <a:gd name="adj" fmla="val 373005"/>
            </a:avLst>
          </a:prstGeom>
          <a:solidFill>
            <a:srgbClr val="B8C3DF"/>
          </a:solidFill>
          <a:ln/>
        </p:spPr>
      </p:sp>
      <p:sp>
        <p:nvSpPr>
          <p:cNvPr id="5" name="Shape 2"/>
          <p:cNvSpPr/>
          <p:nvPr/>
        </p:nvSpPr>
        <p:spPr>
          <a:xfrm>
            <a:off x="1220510" y="2901910"/>
            <a:ext cx="710565" cy="22860"/>
          </a:xfrm>
          <a:prstGeom prst="roundRect">
            <a:avLst>
              <a:gd name="adj" fmla="val 373005"/>
            </a:avLst>
          </a:prstGeom>
          <a:solidFill>
            <a:srgbClr val="B8C3DF"/>
          </a:solidFill>
          <a:ln/>
        </p:spPr>
      </p:sp>
      <p:sp>
        <p:nvSpPr>
          <p:cNvPr id="6" name="Shape 3"/>
          <p:cNvSpPr/>
          <p:nvPr/>
        </p:nvSpPr>
        <p:spPr>
          <a:xfrm>
            <a:off x="786646" y="2684978"/>
            <a:ext cx="456724" cy="456724"/>
          </a:xfrm>
          <a:prstGeom prst="roundRect">
            <a:avLst>
              <a:gd name="adj" fmla="val 18670"/>
            </a:avLst>
          </a:prstGeom>
          <a:solidFill>
            <a:srgbClr val="D2DDF9"/>
          </a:solidFill>
          <a:ln w="7620">
            <a:solidFill>
              <a:srgbClr val="B8C3DF"/>
            </a:solidFill>
            <a:prstDash val="solid"/>
          </a:ln>
        </p:spPr>
      </p:sp>
      <p:sp>
        <p:nvSpPr>
          <p:cNvPr id="7" name="Text 4"/>
          <p:cNvSpPr/>
          <p:nvPr/>
        </p:nvSpPr>
        <p:spPr>
          <a:xfrm>
            <a:off x="957858" y="2761059"/>
            <a:ext cx="114181" cy="304562"/>
          </a:xfrm>
          <a:prstGeom prst="rect">
            <a:avLst/>
          </a:prstGeom>
          <a:noFill/>
          <a:ln/>
        </p:spPr>
        <p:txBody>
          <a:bodyPr wrap="none" lIns="0" tIns="0" rIns="0" bIns="0" rtlCol="0" anchor="t"/>
          <a:lstStyle/>
          <a:p>
            <a:pPr algn="ctr" indent="0" marL="0">
              <a:lnSpc>
                <a:spcPts val="2350"/>
              </a:lnSpc>
              <a:buNone/>
            </a:pPr>
            <a:r>
              <a:rPr lang="en-US" sz="2350" dirty="0">
                <a:solidFill>
                  <a:srgbClr val="404155"/>
                </a:solidFill>
                <a:latin typeface="Alexandria" pitchFamily="34" charset="0"/>
                <a:ea typeface="Alexandria" pitchFamily="34" charset="-122"/>
                <a:cs typeface="Alexandria" pitchFamily="34" charset="-120"/>
              </a:rPr>
              <a:t>1</a:t>
            </a:r>
            <a:endParaRPr lang="en-US" sz="2350" dirty="0"/>
          </a:p>
        </p:txBody>
      </p:sp>
      <p:sp>
        <p:nvSpPr>
          <p:cNvPr id="8" name="Text 5"/>
          <p:cNvSpPr/>
          <p:nvPr/>
        </p:nvSpPr>
        <p:spPr>
          <a:xfrm>
            <a:off x="2131576" y="2659618"/>
            <a:ext cx="2537698" cy="317063"/>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Eficiencia</a:t>
            </a:r>
            <a:endParaRPr lang="en-US" sz="1950" dirty="0"/>
          </a:p>
        </p:txBody>
      </p:sp>
      <p:sp>
        <p:nvSpPr>
          <p:cNvPr id="9" name="Text 6"/>
          <p:cNvSpPr/>
          <p:nvPr/>
        </p:nvSpPr>
        <p:spPr>
          <a:xfrm>
            <a:off x="2131576" y="3098483"/>
            <a:ext cx="6301859" cy="649605"/>
          </a:xfrm>
          <a:prstGeom prst="rect">
            <a:avLst/>
          </a:prstGeom>
          <a:noFill/>
          <a:ln/>
        </p:spPr>
        <p:txBody>
          <a:bodyPr wrap="square" lIns="0" tIns="0" rIns="0" bIns="0" rtlCol="0" anchor="t"/>
          <a:lstStyle/>
          <a:p>
            <a:pPr algn="l" indent="0" marL="0">
              <a:lnSpc>
                <a:spcPts val="2550"/>
              </a:lnSpc>
              <a:buNone/>
            </a:pPr>
            <a:r>
              <a:rPr lang="en-US" sz="1550" dirty="0">
                <a:solidFill>
                  <a:srgbClr val="404155"/>
                </a:solidFill>
                <a:latin typeface="Nobile" pitchFamily="34" charset="0"/>
                <a:ea typeface="Nobile" pitchFamily="34" charset="-122"/>
                <a:cs typeface="Nobile" pitchFamily="34" charset="-120"/>
              </a:rPr>
              <a:t>Comparar las eficiencias energéticas de otras empresas para encontrar mejores prácticas.</a:t>
            </a:r>
            <a:endParaRPr lang="en-US" sz="1550" dirty="0"/>
          </a:p>
        </p:txBody>
      </p:sp>
      <p:sp>
        <p:nvSpPr>
          <p:cNvPr id="10" name="Shape 7"/>
          <p:cNvSpPr/>
          <p:nvPr/>
        </p:nvSpPr>
        <p:spPr>
          <a:xfrm>
            <a:off x="1220510" y="4599384"/>
            <a:ext cx="710565" cy="22860"/>
          </a:xfrm>
          <a:prstGeom prst="roundRect">
            <a:avLst>
              <a:gd name="adj" fmla="val 373005"/>
            </a:avLst>
          </a:prstGeom>
          <a:solidFill>
            <a:srgbClr val="B8C3DF"/>
          </a:solidFill>
          <a:ln/>
        </p:spPr>
      </p:sp>
      <p:sp>
        <p:nvSpPr>
          <p:cNvPr id="11" name="Shape 8"/>
          <p:cNvSpPr/>
          <p:nvPr/>
        </p:nvSpPr>
        <p:spPr>
          <a:xfrm>
            <a:off x="786646" y="4382453"/>
            <a:ext cx="456724" cy="456724"/>
          </a:xfrm>
          <a:prstGeom prst="roundRect">
            <a:avLst>
              <a:gd name="adj" fmla="val 18670"/>
            </a:avLst>
          </a:prstGeom>
          <a:solidFill>
            <a:srgbClr val="D2DDF9"/>
          </a:solidFill>
          <a:ln w="7620">
            <a:solidFill>
              <a:srgbClr val="B8C3DF"/>
            </a:solidFill>
            <a:prstDash val="solid"/>
          </a:ln>
        </p:spPr>
      </p:sp>
      <p:sp>
        <p:nvSpPr>
          <p:cNvPr id="12" name="Text 9"/>
          <p:cNvSpPr/>
          <p:nvPr/>
        </p:nvSpPr>
        <p:spPr>
          <a:xfrm>
            <a:off x="925949" y="4458533"/>
            <a:ext cx="178118" cy="304562"/>
          </a:xfrm>
          <a:prstGeom prst="rect">
            <a:avLst/>
          </a:prstGeom>
          <a:noFill/>
          <a:ln/>
        </p:spPr>
        <p:txBody>
          <a:bodyPr wrap="none" lIns="0" tIns="0" rIns="0" bIns="0" rtlCol="0" anchor="t"/>
          <a:lstStyle/>
          <a:p>
            <a:pPr algn="ctr" indent="0" marL="0">
              <a:lnSpc>
                <a:spcPts val="2350"/>
              </a:lnSpc>
              <a:buNone/>
            </a:pPr>
            <a:r>
              <a:rPr lang="en-US" sz="2350" dirty="0">
                <a:solidFill>
                  <a:srgbClr val="404155"/>
                </a:solidFill>
                <a:latin typeface="Alexandria" pitchFamily="34" charset="0"/>
                <a:ea typeface="Alexandria" pitchFamily="34" charset="-122"/>
                <a:cs typeface="Alexandria" pitchFamily="34" charset="-120"/>
              </a:rPr>
              <a:t>2</a:t>
            </a:r>
            <a:endParaRPr lang="en-US" sz="2350" dirty="0"/>
          </a:p>
        </p:txBody>
      </p:sp>
      <p:sp>
        <p:nvSpPr>
          <p:cNvPr id="13" name="Text 10"/>
          <p:cNvSpPr/>
          <p:nvPr/>
        </p:nvSpPr>
        <p:spPr>
          <a:xfrm>
            <a:off x="2131576" y="4357092"/>
            <a:ext cx="2537698" cy="317063"/>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Simulación</a:t>
            </a:r>
            <a:endParaRPr lang="en-US" sz="1950" dirty="0"/>
          </a:p>
        </p:txBody>
      </p:sp>
      <p:sp>
        <p:nvSpPr>
          <p:cNvPr id="14" name="Text 11"/>
          <p:cNvSpPr/>
          <p:nvPr/>
        </p:nvSpPr>
        <p:spPr>
          <a:xfrm>
            <a:off x="2131576" y="4795957"/>
            <a:ext cx="6301859" cy="649605"/>
          </a:xfrm>
          <a:prstGeom prst="rect">
            <a:avLst/>
          </a:prstGeom>
          <a:noFill/>
          <a:ln/>
        </p:spPr>
        <p:txBody>
          <a:bodyPr wrap="square" lIns="0" tIns="0" rIns="0" bIns="0" rtlCol="0" anchor="t"/>
          <a:lstStyle/>
          <a:p>
            <a:pPr algn="l" indent="0" marL="0">
              <a:lnSpc>
                <a:spcPts val="2550"/>
              </a:lnSpc>
              <a:buNone/>
            </a:pPr>
            <a:r>
              <a:rPr lang="en-US" sz="1550" dirty="0">
                <a:solidFill>
                  <a:srgbClr val="404155"/>
                </a:solidFill>
                <a:latin typeface="Nobile" pitchFamily="34" charset="0"/>
                <a:ea typeface="Nobile" pitchFamily="34" charset="-122"/>
                <a:cs typeface="Nobile" pitchFamily="34" charset="-120"/>
              </a:rPr>
              <a:t>Utilizar el simulador Cisco Packet Tracer para simular tecnologías que mejoren la eficiencia y reduzcan la huella de carbono.</a:t>
            </a:r>
            <a:endParaRPr lang="en-US" sz="1550" dirty="0"/>
          </a:p>
        </p:txBody>
      </p:sp>
      <p:sp>
        <p:nvSpPr>
          <p:cNvPr id="15" name="Shape 12"/>
          <p:cNvSpPr/>
          <p:nvPr/>
        </p:nvSpPr>
        <p:spPr>
          <a:xfrm>
            <a:off x="1220510" y="6296858"/>
            <a:ext cx="710565" cy="22860"/>
          </a:xfrm>
          <a:prstGeom prst="roundRect">
            <a:avLst>
              <a:gd name="adj" fmla="val 373005"/>
            </a:avLst>
          </a:prstGeom>
          <a:solidFill>
            <a:srgbClr val="B8C3DF"/>
          </a:solidFill>
          <a:ln/>
        </p:spPr>
      </p:sp>
      <p:sp>
        <p:nvSpPr>
          <p:cNvPr id="16" name="Shape 13"/>
          <p:cNvSpPr/>
          <p:nvPr/>
        </p:nvSpPr>
        <p:spPr>
          <a:xfrm>
            <a:off x="786646" y="6079927"/>
            <a:ext cx="456724" cy="456724"/>
          </a:xfrm>
          <a:prstGeom prst="roundRect">
            <a:avLst>
              <a:gd name="adj" fmla="val 18670"/>
            </a:avLst>
          </a:prstGeom>
          <a:solidFill>
            <a:srgbClr val="D2DDF9"/>
          </a:solidFill>
          <a:ln w="7620">
            <a:solidFill>
              <a:srgbClr val="B8C3DF"/>
            </a:solidFill>
            <a:prstDash val="solid"/>
          </a:ln>
        </p:spPr>
      </p:sp>
      <p:sp>
        <p:nvSpPr>
          <p:cNvPr id="17" name="Text 14"/>
          <p:cNvSpPr/>
          <p:nvPr/>
        </p:nvSpPr>
        <p:spPr>
          <a:xfrm>
            <a:off x="925235" y="6156008"/>
            <a:ext cx="179427" cy="304562"/>
          </a:xfrm>
          <a:prstGeom prst="rect">
            <a:avLst/>
          </a:prstGeom>
          <a:noFill/>
          <a:ln/>
        </p:spPr>
        <p:txBody>
          <a:bodyPr wrap="none" lIns="0" tIns="0" rIns="0" bIns="0" rtlCol="0" anchor="t"/>
          <a:lstStyle/>
          <a:p>
            <a:pPr algn="ctr" indent="0" marL="0">
              <a:lnSpc>
                <a:spcPts val="2350"/>
              </a:lnSpc>
              <a:buNone/>
            </a:pPr>
            <a:r>
              <a:rPr lang="en-US" sz="2350" dirty="0">
                <a:solidFill>
                  <a:srgbClr val="404155"/>
                </a:solidFill>
                <a:latin typeface="Alexandria" pitchFamily="34" charset="0"/>
                <a:ea typeface="Alexandria" pitchFamily="34" charset="-122"/>
                <a:cs typeface="Alexandria" pitchFamily="34" charset="-120"/>
              </a:rPr>
              <a:t>3</a:t>
            </a:r>
            <a:endParaRPr lang="en-US" sz="2350" dirty="0"/>
          </a:p>
        </p:txBody>
      </p:sp>
      <p:sp>
        <p:nvSpPr>
          <p:cNvPr id="18" name="Text 15"/>
          <p:cNvSpPr/>
          <p:nvPr/>
        </p:nvSpPr>
        <p:spPr>
          <a:xfrm>
            <a:off x="2131576" y="6054566"/>
            <a:ext cx="2537698" cy="317063"/>
          </a:xfrm>
          <a:prstGeom prst="rect">
            <a:avLst/>
          </a:prstGeom>
          <a:noFill/>
          <a:ln/>
        </p:spPr>
        <p:txBody>
          <a:bodyPr wrap="none" lIns="0" tIns="0" rIns="0" bIns="0" rtlCol="0" anchor="t"/>
          <a:lstStyle/>
          <a:p>
            <a:pPr algn="l" indent="0" marL="0">
              <a:lnSpc>
                <a:spcPts val="2450"/>
              </a:lnSpc>
              <a:buNone/>
            </a:pPr>
            <a:r>
              <a:rPr lang="en-US" sz="1950" dirty="0">
                <a:solidFill>
                  <a:srgbClr val="404155"/>
                </a:solidFill>
                <a:latin typeface="Alexandria" pitchFamily="34" charset="0"/>
                <a:ea typeface="Alexandria" pitchFamily="34" charset="-122"/>
                <a:cs typeface="Alexandria" pitchFamily="34" charset="-120"/>
              </a:rPr>
              <a:t>Implementación</a:t>
            </a:r>
            <a:endParaRPr lang="en-US" sz="1950" dirty="0"/>
          </a:p>
        </p:txBody>
      </p:sp>
      <p:sp>
        <p:nvSpPr>
          <p:cNvPr id="19" name="Text 16"/>
          <p:cNvSpPr/>
          <p:nvPr/>
        </p:nvSpPr>
        <p:spPr>
          <a:xfrm>
            <a:off x="2131576" y="6493431"/>
            <a:ext cx="6301859" cy="649605"/>
          </a:xfrm>
          <a:prstGeom prst="rect">
            <a:avLst/>
          </a:prstGeom>
          <a:noFill/>
          <a:ln/>
        </p:spPr>
        <p:txBody>
          <a:bodyPr wrap="square" lIns="0" tIns="0" rIns="0" bIns="0" rtlCol="0" anchor="t"/>
          <a:lstStyle/>
          <a:p>
            <a:pPr algn="l" indent="0" marL="0">
              <a:lnSpc>
                <a:spcPts val="2550"/>
              </a:lnSpc>
              <a:buNone/>
            </a:pPr>
            <a:r>
              <a:rPr lang="en-US" sz="1550" dirty="0">
                <a:solidFill>
                  <a:srgbClr val="404155"/>
                </a:solidFill>
                <a:latin typeface="Nobile" pitchFamily="34" charset="0"/>
                <a:ea typeface="Nobile" pitchFamily="34" charset="-122"/>
                <a:cs typeface="Nobile" pitchFamily="34" charset="-120"/>
              </a:rPr>
              <a:t>Promover la sostenibilidad y proteger el medio ambiente, mientras se mejora la eficiencia y productividad de la empresa.</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683073"/>
            <a:ext cx="7194352" cy="708779"/>
          </a:xfrm>
          <a:prstGeom prst="rect">
            <a:avLst/>
          </a:prstGeom>
          <a:noFill/>
          <a:ln/>
        </p:spPr>
        <p:txBody>
          <a:bodyPr wrap="none" lIns="0" tIns="0" rIns="0" bIns="0" rtlCol="0" anchor="t"/>
          <a:lstStyle/>
          <a:p>
            <a:pP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Justificación del proyecto</a:t>
            </a:r>
            <a:endParaRPr lang="en-US" sz="4450" dirty="0"/>
          </a:p>
        </p:txBody>
      </p:sp>
      <p:sp>
        <p:nvSpPr>
          <p:cNvPr id="4" name="Text 1"/>
          <p:cNvSpPr/>
          <p:nvPr/>
        </p:nvSpPr>
        <p:spPr>
          <a:xfrm>
            <a:off x="6280190" y="3732014"/>
            <a:ext cx="7556421" cy="1814513"/>
          </a:xfrm>
          <a:prstGeom prst="rect">
            <a:avLst/>
          </a:prstGeom>
          <a:noFill/>
          <a:ln/>
        </p:spPr>
        <p:txBody>
          <a:bodyPr wrap="square" lIns="0" tIns="0" rIns="0" bIns="0" rtlCol="0" anchor="t"/>
          <a:lstStyle/>
          <a:p>
            <a:pPr algn="ctr" indent="0" marL="0">
              <a:lnSpc>
                <a:spcPts val="2850"/>
              </a:lnSpc>
              <a:buNone/>
            </a:pPr>
            <a:r>
              <a:rPr lang="en-US" sz="1750" dirty="0">
                <a:solidFill>
                  <a:srgbClr val="404155"/>
                </a:solidFill>
                <a:latin typeface="Nobile" pitchFamily="34" charset="0"/>
                <a:ea typeface="Nobile" pitchFamily="34" charset="-122"/>
                <a:cs typeface="Nobile" pitchFamily="34" charset="-120"/>
              </a:rPr>
              <a:t>Se justifica debido a la necesidad urgente de abordar el impacto ambiental de la industria atunera en Mazatlán, Sinaloa. La empresa PINSA, líder en este sector, tiene la oportunidad de implementar prácticas sostenibles que reduzcan su huella ambiental y protejan la biodiversidad marina.</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03622" y="1041797"/>
            <a:ext cx="3988356" cy="360402"/>
          </a:xfrm>
          <a:prstGeom prst="rect">
            <a:avLst/>
          </a:prstGeom>
          <a:noFill/>
          <a:ln/>
        </p:spPr>
        <p:txBody>
          <a:bodyPr wrap="none" lIns="0" tIns="0" rIns="0" bIns="0" rtlCol="0" anchor="t"/>
          <a:lstStyle/>
          <a:p>
            <a:pPr indent="0" marL="0">
              <a:lnSpc>
                <a:spcPts val="2800"/>
              </a:lnSpc>
              <a:buNone/>
            </a:pPr>
            <a:r>
              <a:rPr lang="en-US" sz="2250" dirty="0">
                <a:solidFill>
                  <a:srgbClr val="1B1B27"/>
                </a:solidFill>
                <a:latin typeface="Alexandria" pitchFamily="34" charset="0"/>
                <a:ea typeface="Alexandria" pitchFamily="34" charset="-122"/>
                <a:cs typeface="Alexandria" pitchFamily="34" charset="-120"/>
              </a:rPr>
              <a:t>Investigación de Estrategias</a:t>
            </a:r>
            <a:endParaRPr lang="en-US" sz="2250" dirty="0"/>
          </a:p>
        </p:txBody>
      </p:sp>
      <p:sp>
        <p:nvSpPr>
          <p:cNvPr id="3" name="Shape 1"/>
          <p:cNvSpPr/>
          <p:nvPr/>
        </p:nvSpPr>
        <p:spPr>
          <a:xfrm>
            <a:off x="403622" y="1632823"/>
            <a:ext cx="13823156" cy="4227671"/>
          </a:xfrm>
          <a:prstGeom prst="roundRect">
            <a:avLst>
              <a:gd name="adj" fmla="val 1146"/>
            </a:avLst>
          </a:prstGeom>
          <a:noFill/>
          <a:ln w="7620">
            <a:solidFill>
              <a:srgbClr val="000000">
                <a:alpha val="8000"/>
              </a:srgbClr>
            </a:solidFill>
            <a:prstDash val="solid"/>
          </a:ln>
        </p:spPr>
      </p:sp>
      <p:sp>
        <p:nvSpPr>
          <p:cNvPr id="4" name="Shape 2"/>
          <p:cNvSpPr/>
          <p:nvPr/>
        </p:nvSpPr>
        <p:spPr>
          <a:xfrm>
            <a:off x="411242" y="1640443"/>
            <a:ext cx="13807916" cy="338138"/>
          </a:xfrm>
          <a:prstGeom prst="rect">
            <a:avLst/>
          </a:prstGeom>
          <a:solidFill>
            <a:srgbClr val="FFFFFF">
              <a:alpha val="4000"/>
            </a:srgbClr>
          </a:solidFill>
          <a:ln/>
        </p:spPr>
      </p:sp>
      <p:sp>
        <p:nvSpPr>
          <p:cNvPr id="5" name="Text 3"/>
          <p:cNvSpPr/>
          <p:nvPr/>
        </p:nvSpPr>
        <p:spPr>
          <a:xfrm>
            <a:off x="526494" y="1717238"/>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Característica</a:t>
            </a:r>
            <a:endParaRPr lang="en-US" sz="900" dirty="0"/>
          </a:p>
        </p:txBody>
      </p:sp>
      <p:sp>
        <p:nvSpPr>
          <p:cNvPr id="6" name="Text 4"/>
          <p:cNvSpPr/>
          <p:nvPr/>
        </p:nvSpPr>
        <p:spPr>
          <a:xfrm>
            <a:off x="3982283" y="1717238"/>
            <a:ext cx="321385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Google</a:t>
            </a:r>
            <a:endParaRPr lang="en-US" sz="900" dirty="0"/>
          </a:p>
        </p:txBody>
      </p:sp>
      <p:sp>
        <p:nvSpPr>
          <p:cNvPr id="7" name="Text 5"/>
          <p:cNvSpPr/>
          <p:nvPr/>
        </p:nvSpPr>
        <p:spPr>
          <a:xfrm>
            <a:off x="7434263" y="1717238"/>
            <a:ext cx="321385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Facebook</a:t>
            </a:r>
            <a:endParaRPr lang="en-US" sz="900" dirty="0"/>
          </a:p>
        </p:txBody>
      </p:sp>
      <p:sp>
        <p:nvSpPr>
          <p:cNvPr id="8" name="Text 6"/>
          <p:cNvSpPr/>
          <p:nvPr/>
        </p:nvSpPr>
        <p:spPr>
          <a:xfrm>
            <a:off x="10886242" y="1717238"/>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Amazon</a:t>
            </a:r>
            <a:endParaRPr lang="en-US" sz="900" dirty="0"/>
          </a:p>
        </p:txBody>
      </p:sp>
      <p:sp>
        <p:nvSpPr>
          <p:cNvPr id="9" name="Shape 7"/>
          <p:cNvSpPr/>
          <p:nvPr/>
        </p:nvSpPr>
        <p:spPr>
          <a:xfrm>
            <a:off x="411242" y="1978581"/>
            <a:ext cx="13807916" cy="338138"/>
          </a:xfrm>
          <a:prstGeom prst="rect">
            <a:avLst/>
          </a:prstGeom>
          <a:solidFill>
            <a:srgbClr val="000000">
              <a:alpha val="4000"/>
            </a:srgbClr>
          </a:solidFill>
          <a:ln/>
        </p:spPr>
      </p:sp>
      <p:sp>
        <p:nvSpPr>
          <p:cNvPr id="10" name="Text 8"/>
          <p:cNvSpPr/>
          <p:nvPr/>
        </p:nvSpPr>
        <p:spPr>
          <a:xfrm>
            <a:off x="526494" y="2055376"/>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Objetivo de energía renovable</a:t>
            </a:r>
            <a:endParaRPr lang="en-US" sz="900" dirty="0"/>
          </a:p>
        </p:txBody>
      </p:sp>
      <p:sp>
        <p:nvSpPr>
          <p:cNvPr id="11" name="Text 9"/>
          <p:cNvSpPr/>
          <p:nvPr/>
        </p:nvSpPr>
        <p:spPr>
          <a:xfrm>
            <a:off x="3982283" y="2055376"/>
            <a:ext cx="3213854" cy="184547"/>
          </a:xfrm>
          <a:prstGeom prst="rect">
            <a:avLst/>
          </a:prstGeom>
          <a:noFill/>
          <a:ln/>
        </p:spPr>
        <p:txBody>
          <a:bodyPr wrap="non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100% para 2025</a:t>
            </a:r>
            <a:endParaRPr lang="en-US" sz="900" dirty="0"/>
          </a:p>
        </p:txBody>
      </p:sp>
      <p:sp>
        <p:nvSpPr>
          <p:cNvPr id="12" name="Text 10"/>
          <p:cNvSpPr/>
          <p:nvPr/>
        </p:nvSpPr>
        <p:spPr>
          <a:xfrm>
            <a:off x="7434263" y="2055376"/>
            <a:ext cx="3213854" cy="184547"/>
          </a:xfrm>
          <a:prstGeom prst="rect">
            <a:avLst/>
          </a:prstGeom>
          <a:noFill/>
          <a:ln/>
        </p:spPr>
        <p:txBody>
          <a:bodyPr wrap="non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100% para 2020 (alcanzado)</a:t>
            </a:r>
            <a:endParaRPr lang="en-US" sz="900" dirty="0"/>
          </a:p>
        </p:txBody>
      </p:sp>
      <p:sp>
        <p:nvSpPr>
          <p:cNvPr id="13" name="Text 11"/>
          <p:cNvSpPr/>
          <p:nvPr/>
        </p:nvSpPr>
        <p:spPr>
          <a:xfrm>
            <a:off x="10886242" y="2055376"/>
            <a:ext cx="3217664" cy="184547"/>
          </a:xfrm>
          <a:prstGeom prst="rect">
            <a:avLst/>
          </a:prstGeom>
          <a:noFill/>
          <a:ln/>
        </p:spPr>
        <p:txBody>
          <a:bodyPr wrap="non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100% para 2030 (Compromiso Climate Pledge)</a:t>
            </a:r>
            <a:endParaRPr lang="en-US" sz="900" dirty="0"/>
          </a:p>
        </p:txBody>
      </p:sp>
      <p:sp>
        <p:nvSpPr>
          <p:cNvPr id="14" name="Shape 12"/>
          <p:cNvSpPr/>
          <p:nvPr/>
        </p:nvSpPr>
        <p:spPr>
          <a:xfrm>
            <a:off x="411242" y="2316718"/>
            <a:ext cx="13807916" cy="707231"/>
          </a:xfrm>
          <a:prstGeom prst="rect">
            <a:avLst/>
          </a:prstGeom>
          <a:solidFill>
            <a:srgbClr val="FFFFFF">
              <a:alpha val="4000"/>
            </a:srgbClr>
          </a:solidFill>
          <a:ln/>
        </p:spPr>
      </p:sp>
      <p:sp>
        <p:nvSpPr>
          <p:cNvPr id="15" name="Text 13"/>
          <p:cNvSpPr/>
          <p:nvPr/>
        </p:nvSpPr>
        <p:spPr>
          <a:xfrm>
            <a:off x="526494" y="2393513"/>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Inversiones en energía renovable</a:t>
            </a:r>
            <a:endParaRPr lang="en-US" sz="900" dirty="0"/>
          </a:p>
        </p:txBody>
      </p:sp>
      <p:sp>
        <p:nvSpPr>
          <p:cNvPr id="16" name="Text 14"/>
          <p:cNvSpPr/>
          <p:nvPr/>
        </p:nvSpPr>
        <p:spPr>
          <a:xfrm>
            <a:off x="3982283" y="2393513"/>
            <a:ext cx="3213854" cy="369094"/>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Acuerdos de compra de energía (PPA) para energía solar y eólica a gran escala.</a:t>
            </a:r>
            <a:endParaRPr lang="en-US" sz="900" dirty="0"/>
          </a:p>
        </p:txBody>
      </p:sp>
      <p:sp>
        <p:nvSpPr>
          <p:cNvPr id="17" name="Text 15"/>
          <p:cNvSpPr/>
          <p:nvPr/>
        </p:nvSpPr>
        <p:spPr>
          <a:xfrm>
            <a:off x="7434263" y="2393513"/>
            <a:ext cx="3213854" cy="369094"/>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PPA para energía solar y eólica, inversión en proyectos de energía renovable a nivel mundial.</a:t>
            </a:r>
            <a:endParaRPr lang="en-US" sz="900" dirty="0"/>
          </a:p>
        </p:txBody>
      </p:sp>
      <p:sp>
        <p:nvSpPr>
          <p:cNvPr id="18" name="Text 16"/>
          <p:cNvSpPr/>
          <p:nvPr/>
        </p:nvSpPr>
        <p:spPr>
          <a:xfrm>
            <a:off x="10886242" y="2393513"/>
            <a:ext cx="321766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PPA para energía solar y eólica, inversión en proyectos de energía renovable a nivel mundial, incluyendo proyectos de almacenamiento de energía.</a:t>
            </a:r>
            <a:endParaRPr lang="en-US" sz="900" dirty="0"/>
          </a:p>
        </p:txBody>
      </p:sp>
      <p:sp>
        <p:nvSpPr>
          <p:cNvPr id="19" name="Shape 17"/>
          <p:cNvSpPr/>
          <p:nvPr/>
        </p:nvSpPr>
        <p:spPr>
          <a:xfrm>
            <a:off x="411242" y="3023949"/>
            <a:ext cx="13807916" cy="522684"/>
          </a:xfrm>
          <a:prstGeom prst="rect">
            <a:avLst/>
          </a:prstGeom>
          <a:solidFill>
            <a:srgbClr val="000000">
              <a:alpha val="4000"/>
            </a:srgbClr>
          </a:solidFill>
          <a:ln/>
        </p:spPr>
      </p:sp>
      <p:sp>
        <p:nvSpPr>
          <p:cNvPr id="20" name="Text 18"/>
          <p:cNvSpPr/>
          <p:nvPr/>
        </p:nvSpPr>
        <p:spPr>
          <a:xfrm>
            <a:off x="526494" y="3100745"/>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Tecnologías de enfriamiento</a:t>
            </a:r>
            <a:endParaRPr lang="en-US" sz="900" dirty="0"/>
          </a:p>
        </p:txBody>
      </p:sp>
      <p:sp>
        <p:nvSpPr>
          <p:cNvPr id="21" name="Text 19"/>
          <p:cNvSpPr/>
          <p:nvPr/>
        </p:nvSpPr>
        <p:spPr>
          <a:xfrm>
            <a:off x="3982283" y="3100745"/>
            <a:ext cx="3213854" cy="369094"/>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Refrigeración por aire, refrigeración evaporativa, sistemas de enfriamiento free-cooling.</a:t>
            </a:r>
            <a:endParaRPr lang="en-US" sz="900" dirty="0"/>
          </a:p>
        </p:txBody>
      </p:sp>
      <p:sp>
        <p:nvSpPr>
          <p:cNvPr id="22" name="Text 20"/>
          <p:cNvSpPr/>
          <p:nvPr/>
        </p:nvSpPr>
        <p:spPr>
          <a:xfrm>
            <a:off x="7434263" y="3100745"/>
            <a:ext cx="3213854" cy="369094"/>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Refrigeración por aire, refrigeración evaporativa, sistemas de enfriamiento free-cooling.</a:t>
            </a:r>
            <a:endParaRPr lang="en-US" sz="900" dirty="0"/>
          </a:p>
        </p:txBody>
      </p:sp>
      <p:sp>
        <p:nvSpPr>
          <p:cNvPr id="23" name="Text 21"/>
          <p:cNvSpPr/>
          <p:nvPr/>
        </p:nvSpPr>
        <p:spPr>
          <a:xfrm>
            <a:off x="10886242" y="3100745"/>
            <a:ext cx="3217664" cy="369094"/>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Refrigeración por aire, refrigeración evaporativa, sistemas de enfriamiento free-cooling.</a:t>
            </a:r>
            <a:endParaRPr lang="en-US" sz="900" dirty="0"/>
          </a:p>
        </p:txBody>
      </p:sp>
      <p:sp>
        <p:nvSpPr>
          <p:cNvPr id="24" name="Shape 22"/>
          <p:cNvSpPr/>
          <p:nvPr/>
        </p:nvSpPr>
        <p:spPr>
          <a:xfrm>
            <a:off x="411242" y="3546634"/>
            <a:ext cx="13807916" cy="707231"/>
          </a:xfrm>
          <a:prstGeom prst="rect">
            <a:avLst/>
          </a:prstGeom>
          <a:solidFill>
            <a:srgbClr val="FFFFFF">
              <a:alpha val="4000"/>
            </a:srgbClr>
          </a:solidFill>
          <a:ln/>
        </p:spPr>
      </p:sp>
      <p:sp>
        <p:nvSpPr>
          <p:cNvPr id="25" name="Text 23"/>
          <p:cNvSpPr/>
          <p:nvPr/>
        </p:nvSpPr>
        <p:spPr>
          <a:xfrm>
            <a:off x="526494" y="3623429"/>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Gestión de energía</a:t>
            </a:r>
            <a:endParaRPr lang="en-US" sz="900" dirty="0"/>
          </a:p>
        </p:txBody>
      </p:sp>
      <p:sp>
        <p:nvSpPr>
          <p:cNvPr id="26" name="Text 24"/>
          <p:cNvSpPr/>
          <p:nvPr/>
        </p:nvSpPr>
        <p:spPr>
          <a:xfrm>
            <a:off x="3982283" y="3623429"/>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Gestión de energía en tiempo real, optimización del uso de servidores, machine learning para predecir la demanda energética.</a:t>
            </a:r>
            <a:endParaRPr lang="en-US" sz="900" dirty="0"/>
          </a:p>
        </p:txBody>
      </p:sp>
      <p:sp>
        <p:nvSpPr>
          <p:cNvPr id="27" name="Text 25"/>
          <p:cNvSpPr/>
          <p:nvPr/>
        </p:nvSpPr>
        <p:spPr>
          <a:xfrm>
            <a:off x="7434263" y="3623429"/>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Gestión de energía en tiempo real, optimización del uso de servidores, machine learning para predecir la demanda energética.</a:t>
            </a:r>
            <a:endParaRPr lang="en-US" sz="900" dirty="0"/>
          </a:p>
        </p:txBody>
      </p:sp>
      <p:sp>
        <p:nvSpPr>
          <p:cNvPr id="28" name="Text 26"/>
          <p:cNvSpPr/>
          <p:nvPr/>
        </p:nvSpPr>
        <p:spPr>
          <a:xfrm>
            <a:off x="10886242" y="3623429"/>
            <a:ext cx="321766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Gestión de energía en tiempo real, optimización del uso de servidores, machine learning para predecir la demanda energética.</a:t>
            </a:r>
            <a:endParaRPr lang="en-US" sz="900" dirty="0"/>
          </a:p>
        </p:txBody>
      </p:sp>
      <p:sp>
        <p:nvSpPr>
          <p:cNvPr id="29" name="Shape 27"/>
          <p:cNvSpPr/>
          <p:nvPr/>
        </p:nvSpPr>
        <p:spPr>
          <a:xfrm>
            <a:off x="411242" y="4253865"/>
            <a:ext cx="13807916" cy="707231"/>
          </a:xfrm>
          <a:prstGeom prst="rect">
            <a:avLst/>
          </a:prstGeom>
          <a:solidFill>
            <a:srgbClr val="000000">
              <a:alpha val="4000"/>
            </a:srgbClr>
          </a:solidFill>
          <a:ln/>
        </p:spPr>
      </p:sp>
      <p:sp>
        <p:nvSpPr>
          <p:cNvPr id="30" name="Text 28"/>
          <p:cNvSpPr/>
          <p:nvPr/>
        </p:nvSpPr>
        <p:spPr>
          <a:xfrm>
            <a:off x="526494" y="4330660"/>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Diseño de centros de datos</a:t>
            </a:r>
            <a:endParaRPr lang="en-US" sz="900" dirty="0"/>
          </a:p>
        </p:txBody>
      </p:sp>
      <p:sp>
        <p:nvSpPr>
          <p:cNvPr id="31" name="Text 29"/>
          <p:cNvSpPr/>
          <p:nvPr/>
        </p:nvSpPr>
        <p:spPr>
          <a:xfrm>
            <a:off x="3982283" y="4330660"/>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Centros de datos modulares, uso de materiales de construcción eficientes energéticamente, optimización del flujo de aire.</a:t>
            </a:r>
            <a:endParaRPr lang="en-US" sz="900" dirty="0"/>
          </a:p>
        </p:txBody>
      </p:sp>
      <p:sp>
        <p:nvSpPr>
          <p:cNvPr id="32" name="Text 30"/>
          <p:cNvSpPr/>
          <p:nvPr/>
        </p:nvSpPr>
        <p:spPr>
          <a:xfrm>
            <a:off x="7434263" y="4330660"/>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Centros de datos modulares, uso de materiales de construcción eficientes energéticamente, optimización del flujo de aire.</a:t>
            </a:r>
            <a:endParaRPr lang="en-US" sz="900" dirty="0"/>
          </a:p>
        </p:txBody>
      </p:sp>
      <p:sp>
        <p:nvSpPr>
          <p:cNvPr id="33" name="Text 31"/>
          <p:cNvSpPr/>
          <p:nvPr/>
        </p:nvSpPr>
        <p:spPr>
          <a:xfrm>
            <a:off x="10886242" y="4330660"/>
            <a:ext cx="321766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Centros de datos modulares, uso de materiales de construcción eficientes energéticamente, optimización del flujo de aire.</a:t>
            </a:r>
            <a:endParaRPr lang="en-US" sz="900" dirty="0"/>
          </a:p>
        </p:txBody>
      </p:sp>
      <p:sp>
        <p:nvSpPr>
          <p:cNvPr id="34" name="Shape 32"/>
          <p:cNvSpPr/>
          <p:nvPr/>
        </p:nvSpPr>
        <p:spPr>
          <a:xfrm>
            <a:off x="411242" y="4961096"/>
            <a:ext cx="13807916" cy="891778"/>
          </a:xfrm>
          <a:prstGeom prst="rect">
            <a:avLst/>
          </a:prstGeom>
          <a:solidFill>
            <a:srgbClr val="FFFFFF">
              <a:alpha val="4000"/>
            </a:srgbClr>
          </a:solidFill>
          <a:ln/>
        </p:spPr>
      </p:sp>
      <p:sp>
        <p:nvSpPr>
          <p:cNvPr id="35" name="Text 33"/>
          <p:cNvSpPr/>
          <p:nvPr/>
        </p:nvSpPr>
        <p:spPr>
          <a:xfrm>
            <a:off x="526494" y="5037892"/>
            <a:ext cx="3217664" cy="184547"/>
          </a:xfrm>
          <a:prstGeom prst="rect">
            <a:avLst/>
          </a:prstGeom>
          <a:noFill/>
          <a:ln/>
        </p:spPr>
        <p:txBody>
          <a:bodyPr wrap="none" lIns="0" tIns="0" rIns="0" bIns="0" rtlCol="0" anchor="t"/>
          <a:lstStyle/>
          <a:p>
            <a:pPr algn="l" indent="0" marL="0">
              <a:lnSpc>
                <a:spcPts val="1450"/>
              </a:lnSpc>
              <a:buNone/>
            </a:pPr>
            <a:r>
              <a:rPr lang="en-US" sz="900" b="1" dirty="0">
                <a:solidFill>
                  <a:srgbClr val="404155"/>
                </a:solidFill>
                <a:latin typeface="Nobile" pitchFamily="34" charset="0"/>
                <a:ea typeface="Nobile" pitchFamily="34" charset="-122"/>
                <a:cs typeface="Nobile" pitchFamily="34" charset="-120"/>
              </a:rPr>
              <a:t>Otras iniciativas</a:t>
            </a:r>
            <a:endParaRPr lang="en-US" sz="900" dirty="0"/>
          </a:p>
        </p:txBody>
      </p:sp>
      <p:sp>
        <p:nvSpPr>
          <p:cNvPr id="36" name="Text 34"/>
          <p:cNvSpPr/>
          <p:nvPr/>
        </p:nvSpPr>
        <p:spPr>
          <a:xfrm>
            <a:off x="3982283" y="5037892"/>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Programas de concienciación de empleados, uso de vehículos eléctricos en sus flotas, inversión en tecnologías de eficiencia energética para sus productos.</a:t>
            </a:r>
            <a:endParaRPr lang="en-US" sz="900" dirty="0"/>
          </a:p>
        </p:txBody>
      </p:sp>
      <p:sp>
        <p:nvSpPr>
          <p:cNvPr id="37" name="Text 35"/>
          <p:cNvSpPr/>
          <p:nvPr/>
        </p:nvSpPr>
        <p:spPr>
          <a:xfrm>
            <a:off x="7434263" y="5037892"/>
            <a:ext cx="3213854" cy="553641"/>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Programas de concienciación de empleados, uso de vehículos eléctricos en sus flotas, inversión en tecnologías de eficiencia energética para sus productos.</a:t>
            </a:r>
            <a:endParaRPr lang="en-US" sz="900" dirty="0"/>
          </a:p>
        </p:txBody>
      </p:sp>
      <p:sp>
        <p:nvSpPr>
          <p:cNvPr id="38" name="Text 36"/>
          <p:cNvSpPr/>
          <p:nvPr/>
        </p:nvSpPr>
        <p:spPr>
          <a:xfrm>
            <a:off x="10886242" y="5037892"/>
            <a:ext cx="3217664" cy="738188"/>
          </a:xfrm>
          <a:prstGeom prst="rect">
            <a:avLst/>
          </a:prstGeom>
          <a:noFill/>
          <a:ln/>
        </p:spPr>
        <p:txBody>
          <a:bodyPr wrap="square" lIns="0" tIns="0" rIns="0" bIns="0" rtlCol="0" anchor="t"/>
          <a:lstStyle/>
          <a:p>
            <a:pPr algn="l" indent="0" marL="0">
              <a:lnSpc>
                <a:spcPts val="1450"/>
              </a:lnSpc>
              <a:buNone/>
            </a:pPr>
            <a:r>
              <a:rPr lang="en-US" sz="900" dirty="0">
                <a:solidFill>
                  <a:srgbClr val="404155"/>
                </a:solidFill>
                <a:latin typeface="Nobile" pitchFamily="34" charset="0"/>
                <a:ea typeface="Nobile" pitchFamily="34" charset="-122"/>
                <a:cs typeface="Nobile" pitchFamily="34" charset="-120"/>
              </a:rPr>
              <a:t>Programas de concienciación de empleados, uso de vehículos eléctricos en sus flotas, inversión en tecnologías de eficiencia energética para sus productos (como dispositivos Echo con modo de bajo consumo).</a:t>
            </a:r>
            <a:endParaRPr lang="en-US" sz="900" dirty="0"/>
          </a:p>
        </p:txBody>
      </p:sp>
      <p:sp>
        <p:nvSpPr>
          <p:cNvPr id="39" name="Text 37"/>
          <p:cNvSpPr/>
          <p:nvPr/>
        </p:nvSpPr>
        <p:spPr>
          <a:xfrm>
            <a:off x="403622" y="5990153"/>
            <a:ext cx="13823156" cy="184547"/>
          </a:xfrm>
          <a:prstGeom prst="rect">
            <a:avLst/>
          </a:prstGeom>
          <a:noFill/>
          <a:ln/>
        </p:spPr>
        <p:txBody>
          <a:bodyPr wrap="none" lIns="0" tIns="0" rIns="0" bIns="0" rtlCol="0" anchor="t"/>
          <a:lstStyle/>
          <a:p>
            <a:pPr indent="0" marL="0">
              <a:lnSpc>
                <a:spcPts val="1450"/>
              </a:lnSpc>
              <a:buNone/>
            </a:pPr>
            <a:r>
              <a:rPr lang="en-US" sz="900" dirty="0">
                <a:solidFill>
                  <a:srgbClr val="404155"/>
                </a:solidFill>
                <a:latin typeface="Nobile" pitchFamily="34" charset="0"/>
                <a:ea typeface="Nobile" pitchFamily="34" charset="-122"/>
                <a:cs typeface="Nobile" pitchFamily="34" charset="-120"/>
              </a:rPr>
              <a:t>En Resumen</a:t>
            </a:r>
            <a:endParaRPr lang="en-US" sz="900" dirty="0"/>
          </a:p>
        </p:txBody>
      </p:sp>
      <p:sp>
        <p:nvSpPr>
          <p:cNvPr id="40" name="Text 38"/>
          <p:cNvSpPr/>
          <p:nvPr/>
        </p:nvSpPr>
        <p:spPr>
          <a:xfrm>
            <a:off x="403622" y="6419612"/>
            <a:ext cx="1441609" cy="180142"/>
          </a:xfrm>
          <a:prstGeom prst="rect">
            <a:avLst/>
          </a:prstGeom>
          <a:noFill/>
          <a:ln/>
        </p:spPr>
        <p:txBody>
          <a:bodyPr wrap="none" lIns="0" tIns="0" rIns="0" bIns="0" rtlCol="0" anchor="t"/>
          <a:lstStyle/>
          <a:p>
            <a:pPr indent="0" marL="0">
              <a:lnSpc>
                <a:spcPts val="1400"/>
              </a:lnSpc>
              <a:buNone/>
            </a:pPr>
            <a:r>
              <a:rPr lang="en-US" sz="1100" dirty="0">
                <a:solidFill>
                  <a:srgbClr val="1B1B27"/>
                </a:solidFill>
                <a:latin typeface="Alexandria" pitchFamily="34" charset="0"/>
                <a:ea typeface="Alexandria" pitchFamily="34" charset="-122"/>
                <a:cs typeface="Alexandria" pitchFamily="34" charset="-120"/>
              </a:rPr>
              <a:t>Google</a:t>
            </a:r>
            <a:endParaRPr lang="en-US" sz="1100" dirty="0"/>
          </a:p>
        </p:txBody>
      </p:sp>
      <p:sp>
        <p:nvSpPr>
          <p:cNvPr id="41" name="Text 39"/>
          <p:cNvSpPr/>
          <p:nvPr/>
        </p:nvSpPr>
        <p:spPr>
          <a:xfrm>
            <a:off x="403622" y="6715006"/>
            <a:ext cx="4419719" cy="369094"/>
          </a:xfrm>
          <a:prstGeom prst="rect">
            <a:avLst/>
          </a:prstGeom>
          <a:noFill/>
          <a:ln/>
        </p:spPr>
        <p:txBody>
          <a:bodyPr wrap="square" lIns="0" tIns="0" rIns="0" bIns="0" rtlCol="0" anchor="t"/>
          <a:lstStyle/>
          <a:p>
            <a:pPr indent="0" marL="0">
              <a:lnSpc>
                <a:spcPts val="1450"/>
              </a:lnSpc>
              <a:buNone/>
            </a:pPr>
            <a:r>
              <a:rPr lang="en-US" sz="900" dirty="0">
                <a:solidFill>
                  <a:srgbClr val="404155"/>
                </a:solidFill>
                <a:latin typeface="Nobile" pitchFamily="34" charset="0"/>
                <a:ea typeface="Nobile" pitchFamily="34" charset="-122"/>
                <a:cs typeface="Nobile" pitchFamily="34" charset="-120"/>
              </a:rPr>
              <a:t>Compromiso con la energía renovable, sistemas de enfriamiento avanzados, gestión inteligente de la energía.</a:t>
            </a:r>
            <a:endParaRPr lang="en-US" sz="900" dirty="0"/>
          </a:p>
        </p:txBody>
      </p:sp>
      <p:sp>
        <p:nvSpPr>
          <p:cNvPr id="42" name="Text 40"/>
          <p:cNvSpPr/>
          <p:nvPr/>
        </p:nvSpPr>
        <p:spPr>
          <a:xfrm>
            <a:off x="5112187" y="6419612"/>
            <a:ext cx="1441609" cy="180142"/>
          </a:xfrm>
          <a:prstGeom prst="rect">
            <a:avLst/>
          </a:prstGeom>
          <a:noFill/>
          <a:ln/>
        </p:spPr>
        <p:txBody>
          <a:bodyPr wrap="none" lIns="0" tIns="0" rIns="0" bIns="0" rtlCol="0" anchor="t"/>
          <a:lstStyle/>
          <a:p>
            <a:pPr indent="0" marL="0">
              <a:lnSpc>
                <a:spcPts val="1400"/>
              </a:lnSpc>
              <a:buNone/>
            </a:pPr>
            <a:r>
              <a:rPr lang="en-US" sz="1100" dirty="0">
                <a:solidFill>
                  <a:srgbClr val="1B1B27"/>
                </a:solidFill>
                <a:latin typeface="Alexandria" pitchFamily="34" charset="0"/>
                <a:ea typeface="Alexandria" pitchFamily="34" charset="-122"/>
                <a:cs typeface="Alexandria" pitchFamily="34" charset="-120"/>
              </a:rPr>
              <a:t>Facebook</a:t>
            </a:r>
            <a:endParaRPr lang="en-US" sz="1100" dirty="0"/>
          </a:p>
        </p:txBody>
      </p:sp>
      <p:sp>
        <p:nvSpPr>
          <p:cNvPr id="43" name="Text 41"/>
          <p:cNvSpPr/>
          <p:nvPr/>
        </p:nvSpPr>
        <p:spPr>
          <a:xfrm>
            <a:off x="5112187" y="6715006"/>
            <a:ext cx="4419719" cy="369094"/>
          </a:xfrm>
          <a:prstGeom prst="rect">
            <a:avLst/>
          </a:prstGeom>
          <a:noFill/>
          <a:ln/>
        </p:spPr>
        <p:txBody>
          <a:bodyPr wrap="square" lIns="0" tIns="0" rIns="0" bIns="0" rtlCol="0" anchor="t"/>
          <a:lstStyle/>
          <a:p>
            <a:pPr indent="0" marL="0">
              <a:lnSpc>
                <a:spcPts val="1450"/>
              </a:lnSpc>
              <a:buNone/>
            </a:pPr>
            <a:r>
              <a:rPr lang="en-US" sz="900" dirty="0">
                <a:solidFill>
                  <a:srgbClr val="404155"/>
                </a:solidFill>
                <a:latin typeface="Nobile" pitchFamily="34" charset="0"/>
                <a:ea typeface="Nobile" pitchFamily="34" charset="-122"/>
                <a:cs typeface="Nobile" pitchFamily="34" charset="-120"/>
              </a:rPr>
              <a:t>Energía renovable, tecnologías de enfriamiento eficientes, gestión inteligente de la energía, diseño de centros de datos.</a:t>
            </a:r>
            <a:endParaRPr lang="en-US" sz="900" dirty="0"/>
          </a:p>
        </p:txBody>
      </p:sp>
      <p:sp>
        <p:nvSpPr>
          <p:cNvPr id="44" name="Text 42"/>
          <p:cNvSpPr/>
          <p:nvPr/>
        </p:nvSpPr>
        <p:spPr>
          <a:xfrm>
            <a:off x="9820751" y="6419612"/>
            <a:ext cx="1441609" cy="180142"/>
          </a:xfrm>
          <a:prstGeom prst="rect">
            <a:avLst/>
          </a:prstGeom>
          <a:noFill/>
          <a:ln/>
        </p:spPr>
        <p:txBody>
          <a:bodyPr wrap="none" lIns="0" tIns="0" rIns="0" bIns="0" rtlCol="0" anchor="t"/>
          <a:lstStyle/>
          <a:p>
            <a:pPr indent="0" marL="0">
              <a:lnSpc>
                <a:spcPts val="1400"/>
              </a:lnSpc>
              <a:buNone/>
            </a:pPr>
            <a:r>
              <a:rPr lang="en-US" sz="1100" dirty="0">
                <a:solidFill>
                  <a:srgbClr val="1B1B27"/>
                </a:solidFill>
                <a:latin typeface="Alexandria" pitchFamily="34" charset="0"/>
                <a:ea typeface="Alexandria" pitchFamily="34" charset="-122"/>
                <a:cs typeface="Alexandria" pitchFamily="34" charset="-120"/>
              </a:rPr>
              <a:t>Amazon</a:t>
            </a:r>
            <a:endParaRPr lang="en-US" sz="1100" dirty="0"/>
          </a:p>
        </p:txBody>
      </p:sp>
      <p:sp>
        <p:nvSpPr>
          <p:cNvPr id="45" name="Text 43"/>
          <p:cNvSpPr/>
          <p:nvPr/>
        </p:nvSpPr>
        <p:spPr>
          <a:xfrm>
            <a:off x="9820751" y="6715006"/>
            <a:ext cx="4419719" cy="369094"/>
          </a:xfrm>
          <a:prstGeom prst="rect">
            <a:avLst/>
          </a:prstGeom>
          <a:noFill/>
          <a:ln/>
        </p:spPr>
        <p:txBody>
          <a:bodyPr wrap="square" lIns="0" tIns="0" rIns="0" bIns="0" rtlCol="0" anchor="t"/>
          <a:lstStyle/>
          <a:p>
            <a:pPr indent="0" marL="0">
              <a:lnSpc>
                <a:spcPts val="1450"/>
              </a:lnSpc>
              <a:buNone/>
            </a:pPr>
            <a:r>
              <a:rPr lang="en-US" sz="900" dirty="0">
                <a:solidFill>
                  <a:srgbClr val="404155"/>
                </a:solidFill>
                <a:latin typeface="Nobile" pitchFamily="34" charset="0"/>
                <a:ea typeface="Nobile" pitchFamily="34" charset="-122"/>
                <a:cs typeface="Nobile" pitchFamily="34" charset="-120"/>
              </a:rPr>
              <a:t>Energía renovable, gestión inteligente de la energía, optimización del uso de servidores, machine learning.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029"/>
          </a:xfrm>
          <a:prstGeom prst="rect">
            <a:avLst/>
          </a:prstGeom>
        </p:spPr>
      </p:pic>
      <p:sp>
        <p:nvSpPr>
          <p:cNvPr id="3" name="Text 0"/>
          <p:cNvSpPr/>
          <p:nvPr/>
        </p:nvSpPr>
        <p:spPr>
          <a:xfrm>
            <a:off x="546140" y="429101"/>
            <a:ext cx="6299002" cy="487680"/>
          </a:xfrm>
          <a:prstGeom prst="rect">
            <a:avLst/>
          </a:prstGeom>
          <a:noFill/>
          <a:ln/>
        </p:spPr>
        <p:txBody>
          <a:bodyPr wrap="none" lIns="0" tIns="0" rIns="0" bIns="0" rtlCol="0" anchor="t"/>
          <a:lstStyle/>
          <a:p>
            <a:pPr indent="0" marL="0">
              <a:lnSpc>
                <a:spcPts val="3800"/>
              </a:lnSpc>
              <a:buNone/>
            </a:pPr>
            <a:r>
              <a:rPr lang="en-US" sz="3050" dirty="0">
                <a:solidFill>
                  <a:srgbClr val="1B1B27"/>
                </a:solidFill>
                <a:latin typeface="Alexandria" pitchFamily="34" charset="0"/>
                <a:ea typeface="Alexandria" pitchFamily="34" charset="-122"/>
                <a:cs typeface="Alexandria" pitchFamily="34" charset="-120"/>
              </a:rPr>
              <a:t>Adaptando las Mejores Prácticas</a:t>
            </a:r>
            <a:endParaRPr lang="en-US" sz="3050" dirty="0"/>
          </a:p>
        </p:txBody>
      </p:sp>
      <p:pic>
        <p:nvPicPr>
          <p:cNvPr id="4" name="Image 1" descr="preencoded.png">    </p:cNvPr>
          <p:cNvPicPr>
            <a:picLocks noChangeAspect="1"/>
          </p:cNvPicPr>
          <p:nvPr/>
        </p:nvPicPr>
        <p:blipFill>
          <a:blip r:embed="rId2"/>
          <a:stretch>
            <a:fillRect/>
          </a:stretch>
        </p:blipFill>
        <p:spPr>
          <a:xfrm>
            <a:off x="546140" y="1150858"/>
            <a:ext cx="390168" cy="390168"/>
          </a:xfrm>
          <a:prstGeom prst="rect">
            <a:avLst/>
          </a:prstGeom>
        </p:spPr>
      </p:pic>
      <p:sp>
        <p:nvSpPr>
          <p:cNvPr id="5" name="Text 1"/>
          <p:cNvSpPr/>
          <p:nvPr/>
        </p:nvSpPr>
        <p:spPr>
          <a:xfrm>
            <a:off x="546140" y="1696998"/>
            <a:ext cx="1950839" cy="243840"/>
          </a:xfrm>
          <a:prstGeom prst="rect">
            <a:avLst/>
          </a:prstGeom>
          <a:noFill/>
          <a:ln/>
        </p:spPr>
        <p:txBody>
          <a:bodyPr wrap="none" lIns="0" tIns="0" rIns="0" bIns="0" rtlCol="0" anchor="t"/>
          <a:lstStyle/>
          <a:p>
            <a:pPr algn="l" indent="0" marL="0">
              <a:lnSpc>
                <a:spcPts val="1900"/>
              </a:lnSpc>
              <a:buNone/>
            </a:pPr>
            <a:r>
              <a:rPr lang="en-US" sz="1500" dirty="0">
                <a:solidFill>
                  <a:srgbClr val="404155"/>
                </a:solidFill>
                <a:latin typeface="Alexandria" pitchFamily="34" charset="0"/>
                <a:ea typeface="Alexandria" pitchFamily="34" charset="-122"/>
                <a:cs typeface="Alexandria" pitchFamily="34" charset="-120"/>
              </a:rPr>
              <a:t>Barcos</a:t>
            </a:r>
            <a:endParaRPr lang="en-US" sz="1500" dirty="0"/>
          </a:p>
        </p:txBody>
      </p:sp>
      <p:sp>
        <p:nvSpPr>
          <p:cNvPr id="6" name="Text 2"/>
          <p:cNvSpPr/>
          <p:nvPr/>
        </p:nvSpPr>
        <p:spPr>
          <a:xfrm>
            <a:off x="546140" y="2034421"/>
            <a:ext cx="8051721" cy="249674"/>
          </a:xfrm>
          <a:prstGeom prst="rect">
            <a:avLst/>
          </a:prstGeom>
          <a:noFill/>
          <a:ln/>
        </p:spPr>
        <p:txBody>
          <a:bodyPr wrap="none" lIns="0" tIns="0" rIns="0" bIns="0" rtlCol="0" anchor="t"/>
          <a:lstStyle/>
          <a:p>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Instalar paneles solares, optimizar sistemas de refrigeración, utilizar técnicas de pesca sostenible.</a:t>
            </a:r>
            <a:endParaRPr lang="en-US" sz="1200" dirty="0"/>
          </a:p>
        </p:txBody>
      </p:sp>
      <p:sp>
        <p:nvSpPr>
          <p:cNvPr id="7" name="Text 3"/>
          <p:cNvSpPr/>
          <p:nvPr/>
        </p:nvSpPr>
        <p:spPr>
          <a:xfrm>
            <a:off x="546140" y="2377678"/>
            <a:ext cx="8051721" cy="249674"/>
          </a:xfrm>
          <a:prstGeom prst="rect">
            <a:avLst/>
          </a:prstGeom>
          <a:noFill/>
          <a:ln/>
        </p:spPr>
        <p:txBody>
          <a:bodyPr wrap="none" lIns="0" tIns="0" rIns="0" bIns="0" rtlCol="0" anchor="t"/>
          <a:lstStyle/>
          <a:p>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a:t>
            </a:r>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Reducción de combustible</a:t>
            </a:r>
            <a:endParaRPr lang="en-US" sz="1200" dirty="0"/>
          </a:p>
        </p:txBody>
      </p:sp>
      <p:sp>
        <p:nvSpPr>
          <p:cNvPr id="8" name="Text 4"/>
          <p:cNvSpPr/>
          <p:nvPr/>
        </p:nvSpPr>
        <p:spPr>
          <a:xfrm>
            <a:off x="546140" y="2720935"/>
            <a:ext cx="8051721" cy="249674"/>
          </a:xfrm>
          <a:prstGeom prst="rect">
            <a:avLst/>
          </a:prstGeom>
          <a:noFill/>
          <a:ln/>
        </p:spPr>
        <p:txBody>
          <a:bodyPr wrap="none" lIns="0" tIns="0" rIns="0" bIns="0" rtlCol="0" anchor="t"/>
          <a:lstStyle/>
          <a:p>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-Técnicas de pesca sostenible</a:t>
            </a:r>
            <a:endParaRPr lang="en-US" sz="1200" dirty="0"/>
          </a:p>
        </p:txBody>
      </p:sp>
      <p:pic>
        <p:nvPicPr>
          <p:cNvPr id="9" name="Image 2" descr="preencoded.png">    </p:cNvPr>
          <p:cNvPicPr>
            <a:picLocks noChangeAspect="1"/>
          </p:cNvPicPr>
          <p:nvPr/>
        </p:nvPicPr>
        <p:blipFill>
          <a:blip r:embed="rId3"/>
          <a:stretch>
            <a:fillRect/>
          </a:stretch>
        </p:blipFill>
        <p:spPr>
          <a:xfrm>
            <a:off x="546140" y="3438763"/>
            <a:ext cx="390168" cy="390168"/>
          </a:xfrm>
          <a:prstGeom prst="rect">
            <a:avLst/>
          </a:prstGeom>
        </p:spPr>
      </p:pic>
      <p:sp>
        <p:nvSpPr>
          <p:cNvPr id="10" name="Text 5"/>
          <p:cNvSpPr/>
          <p:nvPr/>
        </p:nvSpPr>
        <p:spPr>
          <a:xfrm>
            <a:off x="546140" y="3984903"/>
            <a:ext cx="1950839" cy="243840"/>
          </a:xfrm>
          <a:prstGeom prst="rect">
            <a:avLst/>
          </a:prstGeom>
          <a:noFill/>
          <a:ln/>
        </p:spPr>
        <p:txBody>
          <a:bodyPr wrap="none" lIns="0" tIns="0" rIns="0" bIns="0" rtlCol="0" anchor="t"/>
          <a:lstStyle/>
          <a:p>
            <a:pPr algn="l" indent="0" marL="0">
              <a:lnSpc>
                <a:spcPts val="1900"/>
              </a:lnSpc>
              <a:buNone/>
            </a:pPr>
            <a:r>
              <a:rPr lang="en-US" sz="1500" dirty="0">
                <a:solidFill>
                  <a:srgbClr val="404155"/>
                </a:solidFill>
                <a:latin typeface="Alexandria" pitchFamily="34" charset="0"/>
                <a:ea typeface="Alexandria" pitchFamily="34" charset="-122"/>
                <a:cs typeface="Alexandria" pitchFamily="34" charset="-120"/>
              </a:rPr>
              <a:t>Fábricas</a:t>
            </a:r>
            <a:endParaRPr lang="en-US" sz="1500" dirty="0"/>
          </a:p>
        </p:txBody>
      </p:sp>
      <p:sp>
        <p:nvSpPr>
          <p:cNvPr id="11" name="Text 6"/>
          <p:cNvSpPr/>
          <p:nvPr/>
        </p:nvSpPr>
        <p:spPr>
          <a:xfrm>
            <a:off x="546140" y="4322326"/>
            <a:ext cx="8051721" cy="249674"/>
          </a:xfrm>
          <a:prstGeom prst="rect">
            <a:avLst/>
          </a:prstGeom>
          <a:noFill/>
          <a:ln/>
        </p:spPr>
        <p:txBody>
          <a:bodyPr wrap="none" lIns="0" tIns="0" rIns="0" bIns="0" rtlCol="0" anchor="t"/>
          <a:lstStyle/>
          <a:p>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Utilizar energía renovable, implementar sistemas de refrigeración eficientes, reducir residuos.</a:t>
            </a:r>
            <a:endParaRPr lang="en-US" sz="1200" dirty="0"/>
          </a:p>
        </p:txBody>
      </p:sp>
      <p:sp>
        <p:nvSpPr>
          <p:cNvPr id="12" name="Text 7"/>
          <p:cNvSpPr/>
          <p:nvPr/>
        </p:nvSpPr>
        <p:spPr>
          <a:xfrm>
            <a:off x="546140" y="4665583"/>
            <a:ext cx="8051721" cy="249674"/>
          </a:xfrm>
          <a:prstGeom prst="rect">
            <a:avLst/>
          </a:prstGeom>
          <a:noFill/>
          <a:ln/>
        </p:spPr>
        <p:txBody>
          <a:bodyPr wrap="none" lIns="0" tIns="0" rIns="0" bIns="0" rtlCol="0" anchor="t"/>
          <a:lstStyle/>
          <a:p>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a:t>
            </a:r>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Optimización del proceso de congelación</a:t>
            </a:r>
            <a:endParaRPr lang="en-US" sz="1200" dirty="0"/>
          </a:p>
        </p:txBody>
      </p:sp>
      <p:sp>
        <p:nvSpPr>
          <p:cNvPr id="13" name="Text 8"/>
          <p:cNvSpPr/>
          <p:nvPr/>
        </p:nvSpPr>
        <p:spPr>
          <a:xfrm>
            <a:off x="546140" y="5008840"/>
            <a:ext cx="8051721" cy="249674"/>
          </a:xfrm>
          <a:prstGeom prst="rect">
            <a:avLst/>
          </a:prstGeom>
          <a:noFill/>
          <a:ln/>
        </p:spPr>
        <p:txBody>
          <a:bodyPr wrap="none" lIns="0" tIns="0" rIns="0" bIns="0" rtlCol="0" anchor="t"/>
          <a:lstStyle/>
          <a:p>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-Reducción de residuos</a:t>
            </a:r>
            <a:endParaRPr lang="en-US" sz="1200" dirty="0"/>
          </a:p>
        </p:txBody>
      </p:sp>
      <p:pic>
        <p:nvPicPr>
          <p:cNvPr id="14" name="Image 3" descr="preencoded.png">    </p:cNvPr>
          <p:cNvPicPr>
            <a:picLocks noChangeAspect="1"/>
          </p:cNvPicPr>
          <p:nvPr/>
        </p:nvPicPr>
        <p:blipFill>
          <a:blip r:embed="rId4"/>
          <a:stretch>
            <a:fillRect/>
          </a:stretch>
        </p:blipFill>
        <p:spPr>
          <a:xfrm>
            <a:off x="546140" y="5726668"/>
            <a:ext cx="390168" cy="390168"/>
          </a:xfrm>
          <a:prstGeom prst="rect">
            <a:avLst/>
          </a:prstGeom>
        </p:spPr>
      </p:pic>
      <p:sp>
        <p:nvSpPr>
          <p:cNvPr id="15" name="Text 9"/>
          <p:cNvSpPr/>
          <p:nvPr/>
        </p:nvSpPr>
        <p:spPr>
          <a:xfrm>
            <a:off x="546140" y="6272808"/>
            <a:ext cx="8051721" cy="249674"/>
          </a:xfrm>
          <a:prstGeom prst="rect">
            <a:avLst/>
          </a:prstGeom>
          <a:noFill/>
          <a:ln/>
        </p:spPr>
        <p:txBody>
          <a:bodyPr wrap="none" lIns="0" tIns="0" rIns="0" bIns="0" rtlCol="0" anchor="t"/>
          <a:lstStyle/>
          <a:p>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Cultura de sostenibilidad en toda la empresa:</a:t>
            </a:r>
            <a:endParaRPr lang="en-US" sz="1200" dirty="0"/>
          </a:p>
        </p:txBody>
      </p:sp>
      <p:sp>
        <p:nvSpPr>
          <p:cNvPr id="16" name="Text 10"/>
          <p:cNvSpPr/>
          <p:nvPr/>
        </p:nvSpPr>
        <p:spPr>
          <a:xfrm>
            <a:off x="546140" y="6616065"/>
            <a:ext cx="8051721" cy="249674"/>
          </a:xfrm>
          <a:prstGeom prst="rect">
            <a:avLst/>
          </a:prstGeom>
          <a:noFill/>
          <a:ln/>
        </p:spPr>
        <p:txBody>
          <a:bodyPr wrap="none" lIns="0" tIns="0" rIns="0" bIns="0" rtlCol="0" anchor="t"/>
          <a:lstStyle/>
          <a:p>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-Capacitación:</a:t>
            </a:r>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 Capacitar a los empleados en prácticas de eficiencia energética y sostenibilidad.</a:t>
            </a:r>
            <a:endParaRPr lang="en-US" sz="1200" dirty="0"/>
          </a:p>
        </p:txBody>
      </p:sp>
      <p:sp>
        <p:nvSpPr>
          <p:cNvPr id="17" name="Text 11"/>
          <p:cNvSpPr/>
          <p:nvPr/>
        </p:nvSpPr>
        <p:spPr>
          <a:xfrm>
            <a:off x="546140" y="6959322"/>
            <a:ext cx="8051721" cy="499348"/>
          </a:xfrm>
          <a:prstGeom prst="rect">
            <a:avLst/>
          </a:prstGeom>
          <a:noFill/>
          <a:ln/>
        </p:spPr>
        <p:txBody>
          <a:bodyPr wrap="square" lIns="0" tIns="0" rIns="0" bIns="0" rtlCol="0" anchor="t"/>
          <a:lstStyle/>
          <a:p>
            <a:pPr algn="l" indent="0" marL="0">
              <a:lnSpc>
                <a:spcPts val="1950"/>
              </a:lnSpc>
              <a:buNone/>
            </a:pPr>
            <a:r>
              <a:rPr lang="en-US" sz="1200" b="1" dirty="0">
                <a:solidFill>
                  <a:srgbClr val="404155"/>
                </a:solidFill>
                <a:latin typeface="Nobile" pitchFamily="34" charset="0"/>
                <a:ea typeface="Nobile" pitchFamily="34" charset="-122"/>
                <a:cs typeface="Nobile" pitchFamily="34" charset="-120"/>
              </a:rPr>
              <a:t>-Certificaciones:</a:t>
            </a:r>
            <a:pPr algn="l" indent="0" marL="0">
              <a:lnSpc>
                <a:spcPts val="1950"/>
              </a:lnSpc>
              <a:buNone/>
            </a:pPr>
            <a:r>
              <a:rPr lang="en-US" sz="1200" dirty="0">
                <a:solidFill>
                  <a:srgbClr val="404155"/>
                </a:solidFill>
                <a:latin typeface="Nobile" pitchFamily="34" charset="0"/>
                <a:ea typeface="Nobile" pitchFamily="34" charset="-122"/>
                <a:cs typeface="Nobile" pitchFamily="34" charset="-120"/>
              </a:rPr>
              <a:t> Buscar certificaciones de sostenibilidad que reconozcan las prácticas responsables de Grupo Pinsa.</a:t>
            </a:r>
            <a:endParaRPr lang="en-US" sz="1200" dirty="0"/>
          </a:p>
        </p:txBody>
      </p:sp>
      <p:sp>
        <p:nvSpPr>
          <p:cNvPr id="18" name="Text 12"/>
          <p:cNvSpPr/>
          <p:nvPr/>
        </p:nvSpPr>
        <p:spPr>
          <a:xfrm>
            <a:off x="546140" y="7552253"/>
            <a:ext cx="8051721" cy="249674"/>
          </a:xfrm>
          <a:prstGeom prst="rect">
            <a:avLst/>
          </a:prstGeom>
          <a:noFill/>
          <a:ln/>
        </p:spPr>
        <p:txBody>
          <a:bodyPr wrap="none" lIns="0" tIns="0" rIns="0" bIns="0" rtlCol="0" anchor="t"/>
          <a:lstStyle/>
          <a:p>
            <a:pPr algn="l" indent="0" marL="0">
              <a:lnSpc>
                <a:spcPts val="1950"/>
              </a:lnSpc>
              <a:buNone/>
            </a:pP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6027" y="468273"/>
            <a:ext cx="4257794" cy="532209"/>
          </a:xfrm>
          <a:prstGeom prst="rect">
            <a:avLst/>
          </a:prstGeom>
          <a:noFill/>
          <a:ln/>
        </p:spPr>
        <p:txBody>
          <a:bodyPr wrap="none" lIns="0" tIns="0" rIns="0" bIns="0" rtlCol="0" anchor="t"/>
          <a:lstStyle/>
          <a:p>
            <a:pPr indent="0" marL="0">
              <a:lnSpc>
                <a:spcPts val="4150"/>
              </a:lnSpc>
              <a:buNone/>
            </a:pPr>
            <a:r>
              <a:rPr lang="en-US" sz="3350" dirty="0">
                <a:solidFill>
                  <a:srgbClr val="1B1B27"/>
                </a:solidFill>
                <a:latin typeface="Alexandria" pitchFamily="34" charset="0"/>
                <a:ea typeface="Alexandria" pitchFamily="34" charset="-122"/>
                <a:cs typeface="Alexandria" pitchFamily="34" charset="-120"/>
              </a:rPr>
              <a:t>Simulador</a:t>
            </a:r>
            <a:endParaRPr lang="en-US" sz="3350" dirty="0"/>
          </a:p>
        </p:txBody>
      </p:sp>
      <p:sp>
        <p:nvSpPr>
          <p:cNvPr id="3" name="Text 1"/>
          <p:cNvSpPr/>
          <p:nvPr/>
        </p:nvSpPr>
        <p:spPr>
          <a:xfrm>
            <a:off x="596027" y="1341001"/>
            <a:ext cx="13438346" cy="544830"/>
          </a:xfrm>
          <a:prstGeom prst="rect">
            <a:avLst/>
          </a:prstGeom>
          <a:noFill/>
          <a:ln/>
        </p:spPr>
        <p:txBody>
          <a:bodyPr wrap="square" lIns="0" tIns="0" rIns="0" bIns="0" rtlCol="0" anchor="t"/>
          <a:lstStyle/>
          <a:p>
            <a:pPr indent="0" marL="0">
              <a:lnSpc>
                <a:spcPts val="2100"/>
              </a:lnSpc>
              <a:buNone/>
            </a:pPr>
            <a:r>
              <a:rPr lang="en-US" sz="1300" dirty="0">
                <a:solidFill>
                  <a:srgbClr val="404155"/>
                </a:solidFill>
                <a:latin typeface="Nobile" pitchFamily="34" charset="0"/>
                <a:ea typeface="Nobile" pitchFamily="34" charset="-122"/>
                <a:cs typeface="Nobile" pitchFamily="34" charset="-120"/>
              </a:rPr>
              <a:t>En la siguiente información mostraremos los detalles del cisco Packet Tracer donde realizamos la simulación para que Pinsa implemente lo aprendido en la investigación, tanto en la planta de congelados como en sus barcos pesqueros.</a:t>
            </a:r>
            <a:endParaRPr lang="en-US" sz="1300" dirty="0"/>
          </a:p>
        </p:txBody>
      </p:sp>
      <p:pic>
        <p:nvPicPr>
          <p:cNvPr id="4" name="Image 0" descr="preencoded.png">    </p:cNvPr>
          <p:cNvPicPr>
            <a:picLocks noChangeAspect="1"/>
          </p:cNvPicPr>
          <p:nvPr/>
        </p:nvPicPr>
        <p:blipFill>
          <a:blip r:embed="rId1"/>
          <a:stretch>
            <a:fillRect/>
          </a:stretch>
        </p:blipFill>
        <p:spPr>
          <a:xfrm>
            <a:off x="596027" y="2077403"/>
            <a:ext cx="13438346" cy="679299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397490" y="2625090"/>
            <a:ext cx="2979420" cy="2979420"/>
          </a:xfrm>
          <a:prstGeom prst="rect">
            <a:avLst/>
          </a:prstGeom>
        </p:spPr>
      </p:pic>
      <p:sp>
        <p:nvSpPr>
          <p:cNvPr id="3" name="Text 0"/>
          <p:cNvSpPr/>
          <p:nvPr/>
        </p:nvSpPr>
        <p:spPr>
          <a:xfrm>
            <a:off x="723305" y="1012508"/>
            <a:ext cx="7428428" cy="645914"/>
          </a:xfrm>
          <a:prstGeom prst="rect">
            <a:avLst/>
          </a:prstGeom>
          <a:noFill/>
          <a:ln/>
        </p:spPr>
        <p:txBody>
          <a:bodyPr wrap="none" lIns="0" tIns="0" rIns="0" bIns="0" rtlCol="0" anchor="t"/>
          <a:lstStyle/>
          <a:p>
            <a:pPr indent="0" marL="0">
              <a:lnSpc>
                <a:spcPts val="5050"/>
              </a:lnSpc>
              <a:buNone/>
            </a:pPr>
            <a:r>
              <a:rPr lang="en-US" sz="4050" dirty="0">
                <a:solidFill>
                  <a:srgbClr val="1B1B27"/>
                </a:solidFill>
                <a:latin typeface="Alexandria" pitchFamily="34" charset="0"/>
                <a:ea typeface="Alexandria" pitchFamily="34" charset="-122"/>
                <a:cs typeface="Alexandria" pitchFamily="34" charset="-120"/>
              </a:rPr>
              <a:t>Beneficios para Grupo PINSA</a:t>
            </a:r>
            <a:endParaRPr lang="en-US" sz="4050" dirty="0"/>
          </a:p>
        </p:txBody>
      </p:sp>
      <p:sp>
        <p:nvSpPr>
          <p:cNvPr id="4" name="Text 1"/>
          <p:cNvSpPr/>
          <p:nvPr/>
        </p:nvSpPr>
        <p:spPr>
          <a:xfrm>
            <a:off x="723305" y="1968341"/>
            <a:ext cx="7697391" cy="99191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Reducción de la Huella de Carbono:</a:t>
            </a:r>
            <a:pPr algn="l" indent="0" marL="0">
              <a:lnSpc>
                <a:spcPts val="2600"/>
              </a:lnSpc>
              <a:buNone/>
            </a:pPr>
            <a:r>
              <a:rPr lang="en-US" sz="1600" dirty="0">
                <a:solidFill>
                  <a:srgbClr val="404155"/>
                </a:solidFill>
                <a:latin typeface="Nobile" pitchFamily="34" charset="0"/>
                <a:ea typeface="Nobile" pitchFamily="34" charset="-122"/>
                <a:cs typeface="Nobile" pitchFamily="34" charset="-120"/>
              </a:rPr>
              <a:t> La implementación de tecnologías limpias y la optimización de procesos contribuyen a la reducción de la huella de carbono de Grupo PINSA, disminuyendo su impacto ambiental.</a:t>
            </a:r>
            <a:endParaRPr lang="en-US" sz="1600" dirty="0"/>
          </a:p>
        </p:txBody>
      </p:sp>
      <p:sp>
        <p:nvSpPr>
          <p:cNvPr id="5" name="Text 2"/>
          <p:cNvSpPr/>
          <p:nvPr/>
        </p:nvSpPr>
        <p:spPr>
          <a:xfrm>
            <a:off x="723305" y="3032522"/>
            <a:ext cx="7697391" cy="99191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Ahorro Económico:</a:t>
            </a:r>
            <a:pPr algn="l" indent="0" marL="0">
              <a:lnSpc>
                <a:spcPts val="2600"/>
              </a:lnSpc>
              <a:buNone/>
            </a:pPr>
            <a:r>
              <a:rPr lang="en-US" sz="1600" dirty="0">
                <a:solidFill>
                  <a:srgbClr val="404155"/>
                </a:solidFill>
                <a:latin typeface="Nobile" pitchFamily="34" charset="0"/>
                <a:ea typeface="Nobile" pitchFamily="34" charset="-122"/>
                <a:cs typeface="Nobile" pitchFamily="34" charset="-120"/>
              </a:rPr>
              <a:t> La eficiencia energética y la reducción de consumo de combustible generan ahorros económicos significativos para la empresa.</a:t>
            </a:r>
            <a:endParaRPr lang="en-US" sz="1600" dirty="0"/>
          </a:p>
        </p:txBody>
      </p:sp>
      <p:sp>
        <p:nvSpPr>
          <p:cNvPr id="6" name="Text 3"/>
          <p:cNvSpPr/>
          <p:nvPr/>
        </p:nvSpPr>
        <p:spPr>
          <a:xfrm>
            <a:off x="723305" y="4096703"/>
            <a:ext cx="7697391" cy="99191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Mejora de la Eficiencia Operativa:</a:t>
            </a:r>
            <a:pPr algn="l" indent="0" marL="0">
              <a:lnSpc>
                <a:spcPts val="2600"/>
              </a:lnSpc>
              <a:buNone/>
            </a:pPr>
            <a:r>
              <a:rPr lang="en-US" sz="1600" dirty="0">
                <a:solidFill>
                  <a:srgbClr val="404155"/>
                </a:solidFill>
                <a:latin typeface="Nobile" pitchFamily="34" charset="0"/>
                <a:ea typeface="Nobile" pitchFamily="34" charset="-122"/>
                <a:cs typeface="Nobile" pitchFamily="34" charset="-120"/>
              </a:rPr>
              <a:t> La gestión inteligente de la energía y la optimización de procesos mejoran la eficiencia operativa de Grupo PINSA en toda la cadena de producción.</a:t>
            </a:r>
            <a:endParaRPr lang="en-US" sz="1600" dirty="0"/>
          </a:p>
        </p:txBody>
      </p:sp>
      <p:sp>
        <p:nvSpPr>
          <p:cNvPr id="7" name="Text 4"/>
          <p:cNvSpPr/>
          <p:nvPr/>
        </p:nvSpPr>
        <p:spPr>
          <a:xfrm>
            <a:off x="723305" y="5160883"/>
            <a:ext cx="7697391" cy="99191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Fortalecimiento de la Imagen Corporativa:</a:t>
            </a:r>
            <a:pPr algn="l" indent="0" marL="0">
              <a:lnSpc>
                <a:spcPts val="2600"/>
              </a:lnSpc>
              <a:buNone/>
            </a:pPr>
            <a:r>
              <a:rPr lang="en-US" sz="1600" dirty="0">
                <a:solidFill>
                  <a:srgbClr val="404155"/>
                </a:solidFill>
                <a:latin typeface="Nobile" pitchFamily="34" charset="0"/>
                <a:ea typeface="Nobile" pitchFamily="34" charset="-122"/>
                <a:cs typeface="Nobile" pitchFamily="34" charset="-120"/>
              </a:rPr>
              <a:t> La adopción de prácticas sostenibles fortalece la imagen de Grupo PINSA como una empresa responsable y comprometida con el medio ambiente.</a:t>
            </a:r>
            <a:endParaRPr lang="en-US" sz="1600" dirty="0"/>
          </a:p>
        </p:txBody>
      </p:sp>
      <p:sp>
        <p:nvSpPr>
          <p:cNvPr id="8" name="Text 5"/>
          <p:cNvSpPr/>
          <p:nvPr/>
        </p:nvSpPr>
        <p:spPr>
          <a:xfrm>
            <a:off x="723305" y="6225064"/>
            <a:ext cx="7697391" cy="991910"/>
          </a:xfrm>
          <a:prstGeom prst="rect">
            <a:avLst/>
          </a:prstGeom>
          <a:noFill/>
          <a:ln/>
        </p:spPr>
        <p:txBody>
          <a:bodyPr wrap="square" lIns="0" tIns="0" rIns="0" bIns="0" rtlCol="0" anchor="t"/>
          <a:lstStyle/>
          <a:p>
            <a:pPr algn="l" marL="342900" indent="-342900">
              <a:lnSpc>
                <a:spcPts val="2600"/>
              </a:lnSpc>
              <a:buSzPct val="100000"/>
              <a:buChar char="•"/>
            </a:pPr>
            <a:r>
              <a:rPr lang="en-US" sz="1600" b="1" dirty="0">
                <a:solidFill>
                  <a:srgbClr val="404155"/>
                </a:solidFill>
                <a:latin typeface="Nobile" pitchFamily="34" charset="0"/>
                <a:ea typeface="Nobile" pitchFamily="34" charset="-122"/>
                <a:cs typeface="Nobile" pitchFamily="34" charset="-120"/>
              </a:rPr>
              <a:t>Conservación de los Recursos Marinos:</a:t>
            </a:r>
            <a:pPr algn="l" indent="0" marL="0">
              <a:lnSpc>
                <a:spcPts val="2600"/>
              </a:lnSpc>
              <a:buNone/>
            </a:pPr>
            <a:r>
              <a:rPr lang="en-US" sz="1600" dirty="0">
                <a:solidFill>
                  <a:srgbClr val="404155"/>
                </a:solidFill>
                <a:latin typeface="Nobile" pitchFamily="34" charset="0"/>
                <a:ea typeface="Nobile" pitchFamily="34" charset="-122"/>
                <a:cs typeface="Nobile" pitchFamily="34" charset="-120"/>
              </a:rPr>
              <a:t> Las prácticas de pesca sostenible y la protección de la biodiversidad marina contribuyen a la conservación de los recursos marinos para las futuras generaciones.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01622"/>
            <a:ext cx="5670590" cy="708779"/>
          </a:xfrm>
          <a:prstGeom prst="rect">
            <a:avLst/>
          </a:prstGeom>
          <a:noFill/>
          <a:ln/>
        </p:spPr>
        <p:txBody>
          <a:bodyPr wrap="none" lIns="0" tIns="0" rIns="0" bIns="0" rtlCol="0" anchor="t"/>
          <a:lstStyle/>
          <a:p>
            <a:pPr indent="0" marL="0">
              <a:lnSpc>
                <a:spcPts val="5550"/>
              </a:lnSpc>
              <a:buNone/>
            </a:pPr>
            <a:r>
              <a:rPr lang="en-US" sz="4450" dirty="0">
                <a:solidFill>
                  <a:srgbClr val="1B1B27"/>
                </a:solidFill>
                <a:latin typeface="Alexandria" pitchFamily="34" charset="0"/>
                <a:ea typeface="Alexandria" pitchFamily="34" charset="-122"/>
                <a:cs typeface="Alexandria" pitchFamily="34" charset="-120"/>
              </a:rPr>
              <a:t>Conclusión</a:t>
            </a:r>
            <a:endParaRPr lang="en-US" sz="4450" dirty="0"/>
          </a:p>
        </p:txBody>
      </p:sp>
      <p:sp>
        <p:nvSpPr>
          <p:cNvPr id="4" name="Text 1"/>
          <p:cNvSpPr/>
          <p:nvPr/>
        </p:nvSpPr>
        <p:spPr>
          <a:xfrm>
            <a:off x="6280190" y="3550563"/>
            <a:ext cx="7556421" cy="2177415"/>
          </a:xfrm>
          <a:prstGeom prst="rect">
            <a:avLst/>
          </a:prstGeom>
          <a:noFill/>
          <a:ln/>
        </p:spPr>
        <p:txBody>
          <a:bodyPr wrap="square" lIns="0" tIns="0" rIns="0" bIns="0" rtlCol="0" anchor="t"/>
          <a:lstStyle/>
          <a:p>
            <a:pPr indent="0" marL="0">
              <a:lnSpc>
                <a:spcPts val="2850"/>
              </a:lnSpc>
              <a:buNone/>
            </a:pPr>
            <a:r>
              <a:rPr lang="en-US" sz="1750" dirty="0">
                <a:solidFill>
                  <a:srgbClr val="404155"/>
                </a:solidFill>
                <a:latin typeface="Nobile" pitchFamily="34" charset="0"/>
                <a:ea typeface="Nobile" pitchFamily="34" charset="-122"/>
                <a:cs typeface="Nobile" pitchFamily="34" charset="-120"/>
              </a:rPr>
              <a:t>El proyecto ofrece un aprendizaje significativo sobre la importancia de integrar prácticas responsables en la industria atunera. A través de la implementación de tecnologías de eficiencia energética y la adaptación de las mejores prácticas de gigantes tecnológicos como Google, Facebook y Amazon, Grupo PINSA puede lograr beneficios significativos tanto a nivel ambiental como económico.</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2024-12-12T21:19:43Z</dcterms:created>
  <dcterms:modified xsi:type="dcterms:W3CDTF">2024-12-12T21:19:43Z</dcterms:modified>
</cp:coreProperties>
</file>